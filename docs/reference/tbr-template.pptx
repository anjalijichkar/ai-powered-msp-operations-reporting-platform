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EFE3F1-9B95-1E79-B700-3707E627A742}" v="27" dt="2026-04-10T11:09:44.03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fcde76a8-28f3-4607-8a1b-1882e833dc92::" providerId="AD" clId="Web-{A1229D1C-013D-85B7-C51A-4AAFE65829D5}"/>
    <pc:docChg chg="sldOrd">
      <pc:chgData name="Guest User" userId="S::urn:spo:tenantanon#fcde76a8-28f3-4607-8a1b-1882e833dc92::" providerId="AD" clId="Web-{A1229D1C-013D-85B7-C51A-4AAFE65829D5}" dt="2026-04-02T12:57:00.403" v="0"/>
      <pc:docMkLst>
        <pc:docMk/>
      </pc:docMkLst>
      <pc:sldChg chg="ord">
        <pc:chgData name="Guest User" userId="S::urn:spo:tenantanon#fcde76a8-28f3-4607-8a1b-1882e833dc92::" providerId="AD" clId="Web-{A1229D1C-013D-85B7-C51A-4AAFE65829D5}" dt="2026-04-02T12:57:00.403" v="0"/>
        <pc:sldMkLst>
          <pc:docMk/>
          <pc:sldMk cId="0" sldId="267"/>
        </pc:sldMkLst>
      </pc:sldChg>
    </pc:docChg>
  </pc:docChgLst>
  <pc:docChgLst>
    <pc:chgData name="Arya Nimje" userId="S::arya.nimje@inputiv.com::fa436ad5-0e3b-4a17-91ca-47c0fe64a1f9" providerId="AD" clId="Web-{53EFE3F1-9B95-1E79-B700-3707E627A742}"/>
    <pc:docChg chg="modSld">
      <pc:chgData name="Arya Nimje" userId="S::arya.nimje@inputiv.com::fa436ad5-0e3b-4a17-91ca-47c0fe64a1f9" providerId="AD" clId="Web-{53EFE3F1-9B95-1E79-B700-3707E627A742}" dt="2026-04-10T11:09:44.034" v="19" actId="688"/>
      <pc:docMkLst>
        <pc:docMk/>
      </pc:docMkLst>
      <pc:sldChg chg="modSp">
        <pc:chgData name="Arya Nimje" userId="S::arya.nimje@inputiv.com::fa436ad5-0e3b-4a17-91ca-47c0fe64a1f9" providerId="AD" clId="Web-{53EFE3F1-9B95-1E79-B700-3707E627A742}" dt="2026-04-09T05:40:28.189" v="0" actId="1076"/>
        <pc:sldMkLst>
          <pc:docMk/>
          <pc:sldMk cId="0" sldId="256"/>
        </pc:sldMkLst>
        <pc:spChg chg="mod">
          <ac:chgData name="Arya Nimje" userId="S::arya.nimje@inputiv.com::fa436ad5-0e3b-4a17-91ca-47c0fe64a1f9" providerId="AD" clId="Web-{53EFE3F1-9B95-1E79-B700-3707E627A742}" dt="2026-04-09T05:40:28.189" v="0" actId="1076"/>
          <ac:spMkLst>
            <pc:docMk/>
            <pc:sldMk cId="0" sldId="256"/>
            <ac:spMk id="140" creationId="{00000000-0000-0000-0000-000000000000}"/>
          </ac:spMkLst>
        </pc:spChg>
      </pc:sldChg>
      <pc:sldChg chg="modSp">
        <pc:chgData name="Arya Nimje" userId="S::arya.nimje@inputiv.com::fa436ad5-0e3b-4a17-91ca-47c0fe64a1f9" providerId="AD" clId="Web-{53EFE3F1-9B95-1E79-B700-3707E627A742}" dt="2026-04-09T05:40:49.079" v="1" actId="1076"/>
        <pc:sldMkLst>
          <pc:docMk/>
          <pc:sldMk cId="0" sldId="258"/>
        </pc:sldMkLst>
        <pc:spChg chg="mod">
          <ac:chgData name="Arya Nimje" userId="S::arya.nimje@inputiv.com::fa436ad5-0e3b-4a17-91ca-47c0fe64a1f9" providerId="AD" clId="Web-{53EFE3F1-9B95-1E79-B700-3707E627A742}" dt="2026-04-09T05:40:49.079" v="1" actId="1076"/>
          <ac:spMkLst>
            <pc:docMk/>
            <pc:sldMk cId="0" sldId="258"/>
            <ac:spMk id="149" creationId="{00000000-0000-0000-0000-000000000000}"/>
          </ac:spMkLst>
        </pc:spChg>
      </pc:sldChg>
      <pc:sldChg chg="modSp">
        <pc:chgData name="Arya Nimje" userId="S::arya.nimje@inputiv.com::fa436ad5-0e3b-4a17-91ca-47c0fe64a1f9" providerId="AD" clId="Web-{53EFE3F1-9B95-1E79-B700-3707E627A742}" dt="2026-04-10T11:08:48.737" v="17"/>
        <pc:sldMkLst>
          <pc:docMk/>
          <pc:sldMk cId="0" sldId="262"/>
        </pc:sldMkLst>
        <pc:graphicFrameChg chg="mod modGraphic">
          <ac:chgData name="Arya Nimje" userId="S::arya.nimje@inputiv.com::fa436ad5-0e3b-4a17-91ca-47c0fe64a1f9" providerId="AD" clId="Web-{53EFE3F1-9B95-1E79-B700-3707E627A742}" dt="2026-04-10T11:08:48.737" v="17"/>
          <ac:graphicFrameMkLst>
            <pc:docMk/>
            <pc:sldMk cId="0" sldId="262"/>
            <ac:graphicFrameMk id="165" creationId="{00000000-0000-0000-0000-000000000000}"/>
          </ac:graphicFrameMkLst>
        </pc:graphicFrameChg>
      </pc:sldChg>
      <pc:sldChg chg="modSp">
        <pc:chgData name="Arya Nimje" userId="S::arya.nimje@inputiv.com::fa436ad5-0e3b-4a17-91ca-47c0fe64a1f9" providerId="AD" clId="Web-{53EFE3F1-9B95-1E79-B700-3707E627A742}" dt="2026-04-10T11:09:44.034" v="19" actId="688"/>
        <pc:sldMkLst>
          <pc:docMk/>
          <pc:sldMk cId="0" sldId="264"/>
        </pc:sldMkLst>
        <pc:spChg chg="mod">
          <ac:chgData name="Arya Nimje" userId="S::arya.nimje@inputiv.com::fa436ad5-0e3b-4a17-91ca-47c0fe64a1f9" providerId="AD" clId="Web-{53EFE3F1-9B95-1E79-B700-3707E627A742}" dt="2026-04-10T11:08:53.034" v="18" actId="1076"/>
          <ac:spMkLst>
            <pc:docMk/>
            <pc:sldMk cId="0" sldId="264"/>
            <ac:spMk id="174" creationId="{00000000-0000-0000-0000-000000000000}"/>
          </ac:spMkLst>
        </pc:spChg>
        <pc:spChg chg="mod">
          <ac:chgData name="Arya Nimje" userId="S::arya.nimje@inputiv.com::fa436ad5-0e3b-4a17-91ca-47c0fe64a1f9" providerId="AD" clId="Web-{53EFE3F1-9B95-1E79-B700-3707E627A742}" dt="2026-04-10T11:09:44.034" v="19" actId="688"/>
          <ac:spMkLst>
            <pc:docMk/>
            <pc:sldMk cId="0" sldId="264"/>
            <ac:spMk id="17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 name="Shape 133"/>
          <p:cNvSpPr>
            <a:spLocks noGrp="1" noRot="1" noChangeAspect="1"/>
          </p:cNvSpPr>
          <p:nvPr>
            <p:ph type="sldImg"/>
          </p:nvPr>
        </p:nvSpPr>
        <p:spPr>
          <a:xfrm>
            <a:off x="1143000" y="685800"/>
            <a:ext cx="4572000" cy="3429000"/>
          </a:xfrm>
          <a:prstGeom prst="rect">
            <a:avLst/>
          </a:prstGeom>
        </p:spPr>
        <p:txBody>
          <a:bodyPr/>
          <a:lstStyle/>
          <a:p>
            <a:endParaRPr/>
          </a:p>
        </p:txBody>
      </p:sp>
      <p:sp>
        <p:nvSpPr>
          <p:cNvPr id="134" name="Shape 13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ptos"/>
      </a:defRPr>
    </a:lvl1pPr>
    <a:lvl2pPr indent="228600" latinLnBrk="0">
      <a:defRPr sz="1200">
        <a:latin typeface="+mj-lt"/>
        <a:ea typeface="+mj-ea"/>
        <a:cs typeface="+mj-cs"/>
        <a:sym typeface="Aptos"/>
      </a:defRPr>
    </a:lvl2pPr>
    <a:lvl3pPr indent="457200" latinLnBrk="0">
      <a:defRPr sz="1200">
        <a:latin typeface="+mj-lt"/>
        <a:ea typeface="+mj-ea"/>
        <a:cs typeface="+mj-cs"/>
        <a:sym typeface="Aptos"/>
      </a:defRPr>
    </a:lvl3pPr>
    <a:lvl4pPr indent="685800" latinLnBrk="0">
      <a:defRPr sz="1200">
        <a:latin typeface="+mj-lt"/>
        <a:ea typeface="+mj-ea"/>
        <a:cs typeface="+mj-cs"/>
        <a:sym typeface="Aptos"/>
      </a:defRPr>
    </a:lvl4pPr>
    <a:lvl5pPr indent="914400" latinLnBrk="0">
      <a:defRPr sz="1200">
        <a:latin typeface="+mj-lt"/>
        <a:ea typeface="+mj-ea"/>
        <a:cs typeface="+mj-cs"/>
        <a:sym typeface="Aptos"/>
      </a:defRPr>
    </a:lvl5pPr>
    <a:lvl6pPr indent="1143000" latinLnBrk="0">
      <a:defRPr sz="1200">
        <a:latin typeface="+mj-lt"/>
        <a:ea typeface="+mj-ea"/>
        <a:cs typeface="+mj-cs"/>
        <a:sym typeface="Aptos"/>
      </a:defRPr>
    </a:lvl6pPr>
    <a:lvl7pPr indent="1371600" latinLnBrk="0">
      <a:defRPr sz="1200">
        <a:latin typeface="+mj-lt"/>
        <a:ea typeface="+mj-ea"/>
        <a:cs typeface="+mj-cs"/>
        <a:sym typeface="Aptos"/>
      </a:defRPr>
    </a:lvl7pPr>
    <a:lvl8pPr indent="1600200" latinLnBrk="0">
      <a:defRPr sz="1200">
        <a:latin typeface="+mj-lt"/>
        <a:ea typeface="+mj-ea"/>
        <a:cs typeface="+mj-cs"/>
        <a:sym typeface="Aptos"/>
      </a:defRPr>
    </a:lvl8pPr>
    <a:lvl9pPr indent="1828800" latinLnBrk="0">
      <a:defRPr sz="1200">
        <a:latin typeface="+mj-lt"/>
        <a:ea typeface="+mj-ea"/>
        <a:cs typeface="+mj-cs"/>
        <a:sym typeface="Apto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142"/>
          <p:cNvSpPr>
            <a:spLocks noGrp="1" noRot="1" noChangeAspect="1"/>
          </p:cNvSpPr>
          <p:nvPr>
            <p:ph type="sldImg"/>
          </p:nvPr>
        </p:nvSpPr>
        <p:spPr>
          <a:xfrm>
            <a:off x="381000" y="685800"/>
            <a:ext cx="6096000" cy="3429000"/>
          </a:xfrm>
          <a:prstGeom prst="rect">
            <a:avLst/>
          </a:prstGeom>
        </p:spPr>
        <p:txBody>
          <a:bodyPr/>
          <a:lstStyle/>
          <a:p>
            <a:endParaRPr/>
          </a:p>
        </p:txBody>
      </p:sp>
      <p:sp>
        <p:nvSpPr>
          <p:cNvPr id="143" name="Shape 143"/>
          <p:cNvSpPr>
            <a:spLocks noGrp="1"/>
          </p:cNvSpPr>
          <p:nvPr>
            <p:ph type="body" sz="quarter" idx="1"/>
          </p:nvPr>
        </p:nvSpPr>
        <p:spPr>
          <a:prstGeom prst="rect">
            <a:avLst/>
          </a:prstGeom>
        </p:spPr>
        <p:txBody>
          <a:bodyPr/>
          <a:lstStyle/>
          <a:p>
            <a:r>
              <a:t>The purpose of a Client Business Review:</a:t>
            </a:r>
          </a:p>
          <a:p>
            <a:r>
              <a:t> Discuss technical insight to support the growth and development of your company. </a:t>
            </a:r>
          </a:p>
          <a:p>
            <a:r>
              <a:t> Summarize the IT management of your human capital and the network they use to stay productive in their use of technology. </a:t>
            </a:r>
          </a:p>
          <a:p>
            <a:r>
              <a:t> Review important metrics detailing historical performance according to TeamLogic  IT’s service agreement and how these metrics impact your business. </a:t>
            </a:r>
          </a:p>
          <a:p>
            <a:r>
              <a:t> Provide recommendations to improve the support and services provided by TeamLogic IT. </a:t>
            </a:r>
          </a:p>
          <a:p>
            <a:r>
              <a:t> Align near-term goals you may have to enhance the use of technology.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Shape 150"/>
          <p:cNvSpPr>
            <a:spLocks noGrp="1" noRot="1" noChangeAspect="1"/>
          </p:cNvSpPr>
          <p:nvPr>
            <p:ph type="sldImg"/>
          </p:nvPr>
        </p:nvSpPr>
        <p:spPr>
          <a:xfrm>
            <a:off x="381000" y="685800"/>
            <a:ext cx="6096000" cy="3429000"/>
          </a:xfrm>
          <a:prstGeom prst="rect">
            <a:avLst/>
          </a:prstGeom>
        </p:spPr>
        <p:txBody>
          <a:bodyPr/>
          <a:lstStyle/>
          <a:p>
            <a:endParaRPr/>
          </a:p>
        </p:txBody>
      </p:sp>
      <p:sp>
        <p:nvSpPr>
          <p:cNvPr id="151" name="Shape 151"/>
          <p:cNvSpPr>
            <a:spLocks noGrp="1"/>
          </p:cNvSpPr>
          <p:nvPr>
            <p:ph type="body" sz="quarter" idx="1"/>
          </p:nvPr>
        </p:nvSpPr>
        <p:spPr>
          <a:prstGeom prst="rect">
            <a:avLst/>
          </a:prstGeom>
        </p:spPr>
        <p:txBody>
          <a:bodyPr/>
          <a:lstStyle/>
          <a:p>
            <a:pPr>
              <a:defRPr b="1"/>
            </a:pPr>
            <a:r>
              <a:t>Role: </a:t>
            </a:r>
            <a:r>
              <a:rPr b="0"/>
              <a:t>Act as an MSP executive briefing a </a:t>
            </a:r>
            <a:r>
              <a:rPr lang="en-US" i="1">
                <a:solidFill>
                  <a:srgbClr val="00B0F0"/>
                </a:solidFill>
              </a:rPr>
              <a:t>&lt;&lt;insert industry here&gt;&gt; </a:t>
            </a:r>
            <a:r>
              <a:rPr b="0"/>
              <a:t>company’s CEO, COO, and CFO during a Client Business Review. </a:t>
            </a:r>
          </a:p>
          <a:p>
            <a:pPr>
              <a:defRPr b="1"/>
            </a:pPr>
            <a:r>
              <a:t>Objective: </a:t>
            </a:r>
            <a:r>
              <a:rPr b="0"/>
              <a:t>Translate industry-specific technology trends into business risk, financial impact, and executive decisions, showing where managed IT reduces exposure and enables scale. </a:t>
            </a:r>
          </a:p>
          <a:p>
            <a:pPr>
              <a:defRPr b="1"/>
            </a:pPr>
            <a:r>
              <a:t>Task: </a:t>
            </a:r>
            <a:r>
              <a:rPr b="0"/>
              <a:t>Identify 3 industry-specific technology trends leadership must address in the next 12–24 months (e.g., shadow AI/SaaS, cyber risk &amp; MDR, cyber insurance, regulatory obligations, end-of-life systems). </a:t>
            </a:r>
          </a:p>
          <a:p>
            <a:pPr>
              <a:defRPr b="1"/>
            </a:pPr>
            <a:r>
              <a:t>Insights: </a:t>
            </a:r>
            <a:r>
              <a:rPr b="0"/>
              <a:t>Ask me three questions one at a time to gain further insights. </a:t>
            </a:r>
          </a:p>
          <a:p>
            <a:pPr>
              <a:defRPr b="1"/>
            </a:pPr>
            <a:r>
              <a:t>Output Rules: </a:t>
            </a:r>
          </a:p>
          <a:p>
            <a:pPr>
              <a:defRPr>
                <a:solidFill>
                  <a:srgbClr val="0070C0"/>
                </a:solidFill>
              </a:defRPr>
            </a:pPr>
            <a:r>
              <a:t>▪</a:t>
            </a:r>
            <a:r>
              <a:rPr>
                <a:solidFill>
                  <a:srgbClr val="000000"/>
                </a:solidFill>
              </a:rPr>
              <a:t>One executive slide </a:t>
            </a:r>
          </a:p>
          <a:p>
            <a:pPr>
              <a:defRPr>
                <a:solidFill>
                  <a:srgbClr val="0070C0"/>
                </a:solidFill>
              </a:defRPr>
            </a:pPr>
            <a:r>
              <a:t>▪</a:t>
            </a:r>
            <a:r>
              <a:rPr>
                <a:solidFill>
                  <a:srgbClr val="000000"/>
                </a:solidFill>
              </a:rPr>
              <a:t>Max 3 bullets, ≤20 words each </a:t>
            </a:r>
          </a:p>
          <a:p>
            <a:pPr>
              <a:defRPr b="1"/>
            </a:pPr>
            <a:r>
              <a:t>Each bullet must state: </a:t>
            </a:r>
          </a:p>
          <a:p>
            <a:pPr>
              <a:defRPr>
                <a:solidFill>
                  <a:srgbClr val="0070C0"/>
                </a:solidFill>
              </a:defRPr>
            </a:pPr>
            <a:r>
              <a:t>▪</a:t>
            </a:r>
            <a:r>
              <a:rPr>
                <a:solidFill>
                  <a:srgbClr val="000000"/>
                </a:solidFill>
              </a:rPr>
              <a:t>The trend and the business or financial risk </a:t>
            </a:r>
          </a:p>
          <a:p>
            <a:pPr>
              <a:defRPr>
                <a:solidFill>
                  <a:srgbClr val="0070C0"/>
                </a:solidFill>
              </a:defRPr>
            </a:pPr>
            <a:r>
              <a:t>▪</a:t>
            </a:r>
            <a:r>
              <a:rPr>
                <a:solidFill>
                  <a:srgbClr val="000000"/>
                </a:solidFill>
              </a:rPr>
              <a:t>Why managed IT oversight is needed </a:t>
            </a:r>
          </a:p>
          <a:p>
            <a:pPr>
              <a:defRPr>
                <a:solidFill>
                  <a:srgbClr val="0070C0"/>
                </a:solidFill>
              </a:defRPr>
            </a:pPr>
            <a:r>
              <a:t>▪</a:t>
            </a:r>
            <a:r>
              <a:rPr>
                <a:solidFill>
                  <a:srgbClr val="000000"/>
                </a:solidFill>
              </a:rPr>
              <a:t>Tone: executive, factual, forward-looking </a:t>
            </a:r>
          </a:p>
          <a:p>
            <a:pPr>
              <a:defRPr>
                <a:solidFill>
                  <a:srgbClr val="0070C0"/>
                </a:solidFill>
              </a:defRPr>
            </a:pPr>
            <a:r>
              <a:t>▪</a:t>
            </a:r>
            <a:r>
              <a:rPr>
                <a:solidFill>
                  <a:srgbClr val="000000"/>
                </a:solidFill>
              </a:rPr>
              <a:t>No marketing language </a:t>
            </a:r>
          </a:p>
          <a:p>
            <a:pPr>
              <a:defRPr>
                <a:solidFill>
                  <a:srgbClr val="0070C0"/>
                </a:solidFill>
              </a:defRPr>
            </a:pPr>
            <a:r>
              <a:t>▪</a:t>
            </a:r>
            <a:r>
              <a:rPr>
                <a:solidFill>
                  <a:srgbClr val="000000"/>
                </a:solidFill>
              </a:rPr>
              <a:t>No technical jargon </a:t>
            </a:r>
          </a:p>
          <a:p>
            <a:pPr>
              <a:defRPr b="1"/>
            </a:pPr>
            <a:r>
              <a:t>Client website: </a:t>
            </a:r>
            <a:r>
              <a:rPr i="1">
                <a:solidFill>
                  <a:srgbClr val="00B0F0"/>
                </a:solidFill>
              </a:rPr>
              <a:t>&lt;&lt;insert website here&gt;&gt;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Shape 161"/>
          <p:cNvSpPr>
            <a:spLocks noGrp="1" noRot="1" noChangeAspect="1"/>
          </p:cNvSpPr>
          <p:nvPr>
            <p:ph type="sldImg"/>
          </p:nvPr>
        </p:nvSpPr>
        <p:spPr>
          <a:xfrm>
            <a:off x="381000" y="685800"/>
            <a:ext cx="6096000" cy="3429000"/>
          </a:xfrm>
          <a:prstGeom prst="rect">
            <a:avLst/>
          </a:prstGeom>
        </p:spPr>
        <p:txBody>
          <a:bodyPr/>
          <a:lstStyle/>
          <a:p>
            <a:endParaRPr/>
          </a:p>
        </p:txBody>
      </p:sp>
      <p:sp>
        <p:nvSpPr>
          <p:cNvPr id="162" name="Shape 162"/>
          <p:cNvSpPr>
            <a:spLocks noGrp="1"/>
          </p:cNvSpPr>
          <p:nvPr>
            <p:ph type="body" sz="quarter" idx="1"/>
          </p:nvPr>
        </p:nvSpPr>
        <p:spPr>
          <a:prstGeom prst="rect">
            <a:avLst/>
          </a:prstGeom>
        </p:spPr>
        <p:txBody>
          <a:bodyPr/>
          <a:lstStyle/>
          <a:p>
            <a:pPr>
              <a:defRPr b="1"/>
            </a:pPr>
            <a:r>
              <a:t>Role: </a:t>
            </a:r>
            <a:r>
              <a:rPr b="0"/>
              <a:t>You are an MSP executive presenting a client business review.</a:t>
            </a:r>
            <a:endParaRPr>
              <a:solidFill>
                <a:srgbClr val="444444"/>
              </a:solidFill>
            </a:endParaRPr>
          </a:p>
          <a:p>
            <a:pPr>
              <a:defRPr b="1"/>
            </a:pPr>
            <a:r>
              <a:t>Task:</a:t>
            </a:r>
            <a:r>
              <a:rPr b="0"/>
              <a:t> Analyze the attached Ticket Export report for a client business review meeting that explains service performance in business terms the client cares about. </a:t>
            </a:r>
            <a:endParaRPr>
              <a:solidFill>
                <a:srgbClr val="444444"/>
              </a:solidFill>
            </a:endParaRPr>
          </a:p>
          <a:p>
            <a:pPr>
              <a:defRPr b="1"/>
            </a:pPr>
            <a:r>
              <a:t>Insights: </a:t>
            </a:r>
            <a:r>
              <a:rPr b="0"/>
              <a:t>Ask me three questions one at a time to gain further insights. </a:t>
            </a:r>
            <a:endParaRPr>
              <a:solidFill>
                <a:srgbClr val="444444"/>
              </a:solidFill>
            </a:endParaRPr>
          </a:p>
          <a:p>
            <a:pPr>
              <a:defRPr b="1"/>
            </a:pPr>
            <a:r>
              <a:t>Guidelines:</a:t>
            </a:r>
            <a:endParaRPr>
              <a:solidFill>
                <a:srgbClr val="444444"/>
              </a:solidFill>
            </a:endParaRPr>
          </a:p>
          <a:p>
            <a:pPr>
              <a:defRPr>
                <a:solidFill>
                  <a:srgbClr val="0070C0"/>
                </a:solidFill>
              </a:defRPr>
            </a:pPr>
            <a:r>
              <a:t>▪</a:t>
            </a:r>
            <a:r>
              <a:rPr b="1">
                <a:solidFill>
                  <a:srgbClr val="000000"/>
                </a:solidFill>
              </a:rPr>
              <a:t>Headline:</a:t>
            </a:r>
            <a:r>
              <a:rPr>
                <a:solidFill>
                  <a:srgbClr val="000000"/>
                </a:solidFill>
              </a:rPr>
              <a:t> One sentence summarizing overall service performance</a:t>
            </a:r>
            <a:endParaRPr>
              <a:solidFill>
                <a:srgbClr val="444444"/>
              </a:solidFill>
            </a:endParaRPr>
          </a:p>
          <a:p>
            <a:pPr>
              <a:defRPr>
                <a:solidFill>
                  <a:srgbClr val="0070C0"/>
                </a:solidFill>
              </a:defRPr>
            </a:pPr>
            <a:r>
              <a:t>▪</a:t>
            </a:r>
            <a:r>
              <a:rPr b="1">
                <a:solidFill>
                  <a:srgbClr val="000000"/>
                </a:solidFill>
              </a:rPr>
              <a:t>Key Observations:</a:t>
            </a:r>
            <a:r>
              <a:rPr>
                <a:solidFill>
                  <a:srgbClr val="000000"/>
                </a:solidFill>
              </a:rPr>
              <a:t> 3–5 bullets on meaningful trends or patterns</a:t>
            </a:r>
            <a:endParaRPr>
              <a:solidFill>
                <a:srgbClr val="444444"/>
              </a:solidFill>
            </a:endParaRPr>
          </a:p>
          <a:p>
            <a:pPr>
              <a:defRPr>
                <a:solidFill>
                  <a:srgbClr val="0070C0"/>
                </a:solidFill>
              </a:defRPr>
            </a:pPr>
            <a:r>
              <a:t>▪</a:t>
            </a:r>
            <a:r>
              <a:rPr b="1">
                <a:solidFill>
                  <a:srgbClr val="000000"/>
                </a:solidFill>
              </a:rPr>
              <a:t>Client Impact:</a:t>
            </a:r>
            <a:r>
              <a:rPr>
                <a:solidFill>
                  <a:srgbClr val="000000"/>
                </a:solidFill>
              </a:rPr>
              <a:t> 2–3 bullets explaining effects on productivity, risk, or user experience</a:t>
            </a:r>
            <a:endParaRPr>
              <a:solidFill>
                <a:srgbClr val="444444"/>
              </a:solidFill>
            </a:endParaRPr>
          </a:p>
          <a:p>
            <a:pPr>
              <a:defRPr b="1"/>
            </a:pPr>
            <a:r>
              <a:t>Rules:</a:t>
            </a:r>
            <a:endParaRPr>
              <a:solidFill>
                <a:srgbClr val="444444"/>
              </a:solidFill>
            </a:endParaRPr>
          </a:p>
          <a:p>
            <a:pPr>
              <a:defRPr>
                <a:solidFill>
                  <a:srgbClr val="0070C0"/>
                </a:solidFill>
              </a:defRPr>
            </a:pPr>
            <a:r>
              <a:t>▪</a:t>
            </a:r>
            <a:r>
              <a:rPr>
                <a:solidFill>
                  <a:srgbClr val="000000"/>
                </a:solidFill>
              </a:rPr>
              <a:t>Client-friendly language; no internal MSP jargon</a:t>
            </a:r>
            <a:endParaRPr>
              <a:solidFill>
                <a:srgbClr val="444444"/>
              </a:solidFill>
            </a:endParaRPr>
          </a:p>
          <a:p>
            <a:pPr>
              <a:defRPr>
                <a:solidFill>
                  <a:srgbClr val="0070C0"/>
                </a:solidFill>
              </a:defRPr>
            </a:pPr>
            <a:r>
              <a:t>▪</a:t>
            </a:r>
            <a:r>
              <a:rPr>
                <a:solidFill>
                  <a:srgbClr val="000000"/>
                </a:solidFill>
              </a:rPr>
              <a:t>Focus on outcomes, not ticket mechanics</a:t>
            </a:r>
            <a:endParaRPr>
              <a:solidFill>
                <a:srgbClr val="444444"/>
              </a:solidFill>
            </a:endParaRPr>
          </a:p>
          <a:p>
            <a:pPr>
              <a:defRPr>
                <a:solidFill>
                  <a:srgbClr val="0070C0"/>
                </a:solidFill>
              </a:defRPr>
            </a:pPr>
            <a:r>
              <a:t>▪</a:t>
            </a:r>
            <a:r>
              <a:rPr>
                <a:solidFill>
                  <a:srgbClr val="000000"/>
                </a:solidFill>
              </a:rPr>
              <a:t>Be transparent and confident</a:t>
            </a:r>
            <a:endParaRPr>
              <a:solidFill>
                <a:srgbClr val="444444"/>
              </a:solidFill>
            </a:endParaRPr>
          </a:p>
          <a:p>
            <a:pPr>
              <a:defRPr>
                <a:solidFill>
                  <a:srgbClr val="0070C0"/>
                </a:solidFill>
              </a:defRPr>
            </a:pPr>
            <a:r>
              <a:t>▪</a:t>
            </a:r>
            <a:r>
              <a:rPr>
                <a:solidFill>
                  <a:srgbClr val="000000"/>
                </a:solidFill>
              </a:rPr>
              <a:t>Fit all content on one slide</a:t>
            </a:r>
            <a:endParaRPr>
              <a:solidFill>
                <a:srgbClr val="444444"/>
              </a:solidFill>
            </a:endParaRPr>
          </a:p>
          <a:p>
            <a:pPr>
              <a:defRPr b="1"/>
            </a:pPr>
            <a:r>
              <a:t>Formatting:</a:t>
            </a:r>
            <a:endParaRPr>
              <a:solidFill>
                <a:srgbClr val="444444"/>
              </a:solidFill>
            </a:endParaRPr>
          </a:p>
          <a:p>
            <a:pPr>
              <a:defRPr>
                <a:solidFill>
                  <a:srgbClr val="0070C0"/>
                </a:solidFill>
              </a:defRPr>
            </a:pPr>
            <a:r>
              <a:t>▪</a:t>
            </a:r>
            <a:r>
              <a:rPr>
                <a:solidFill>
                  <a:srgbClr val="000000"/>
                </a:solidFill>
              </a:rPr>
              <a:t>Bullet points exactly as shown on the slide</a:t>
            </a:r>
            <a:endParaRPr>
              <a:solidFill>
                <a:srgbClr val="444444"/>
              </a:solidFill>
            </a:endParaRPr>
          </a:p>
          <a:p>
            <a:pPr>
              <a:defRPr>
                <a:solidFill>
                  <a:srgbClr val="0070C0"/>
                </a:solidFill>
              </a:defRPr>
            </a:pPr>
            <a:r>
              <a:t>▪</a:t>
            </a:r>
            <a:r>
              <a:rPr>
                <a:solidFill>
                  <a:srgbClr val="000000"/>
                </a:solidFill>
              </a:rPr>
              <a:t>No internal commentary or technical detail</a:t>
            </a:r>
            <a:endParaRPr>
              <a:solidFill>
                <a:srgbClr val="444444"/>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Shape 166"/>
          <p:cNvSpPr>
            <a:spLocks noGrp="1" noRot="1" noChangeAspect="1"/>
          </p:cNvSpPr>
          <p:nvPr>
            <p:ph type="sldImg"/>
          </p:nvPr>
        </p:nvSpPr>
        <p:spPr>
          <a:xfrm>
            <a:off x="381000" y="685800"/>
            <a:ext cx="6096000" cy="3429000"/>
          </a:xfrm>
          <a:prstGeom prst="rect">
            <a:avLst/>
          </a:prstGeom>
        </p:spPr>
        <p:txBody>
          <a:bodyPr/>
          <a:lstStyle/>
          <a:p>
            <a:endParaRPr/>
          </a:p>
        </p:txBody>
      </p:sp>
      <p:sp>
        <p:nvSpPr>
          <p:cNvPr id="167" name="Shape 167"/>
          <p:cNvSpPr>
            <a:spLocks noGrp="1"/>
          </p:cNvSpPr>
          <p:nvPr>
            <p:ph type="body" sz="quarter" idx="1"/>
          </p:nvPr>
        </p:nvSpPr>
        <p:spPr>
          <a:prstGeom prst="rect">
            <a:avLst/>
          </a:prstGeom>
        </p:spPr>
        <p:txBody>
          <a:bodyPr/>
          <a:lstStyle/>
          <a:p>
            <a:pPr>
              <a:defRPr b="1"/>
            </a:pPr>
            <a:r>
              <a:t>Role: </a:t>
            </a:r>
            <a:r>
              <a:rPr b="0"/>
              <a:t>You are an MSP executive presenting a client business review.</a:t>
            </a:r>
          </a:p>
          <a:p>
            <a:pPr>
              <a:defRPr b="1"/>
            </a:pPr>
            <a:r>
              <a:t>Task: </a:t>
            </a:r>
            <a:r>
              <a:rPr b="0"/>
              <a:t>Create exactly three executive-level key takeaways from the Ninja Management Executive Summary for a Client Business Review. </a:t>
            </a:r>
          </a:p>
          <a:p>
            <a:pPr>
              <a:defRPr>
                <a:solidFill>
                  <a:srgbClr val="0070C0"/>
                </a:solidFill>
              </a:defRPr>
            </a:pPr>
            <a:r>
              <a:t>▪</a:t>
            </a:r>
            <a:r>
              <a:rPr>
                <a:solidFill>
                  <a:srgbClr val="000000"/>
                </a:solidFill>
              </a:rPr>
              <a:t>For each takeaway start with a clear, decisive headline that states the conclusion</a:t>
            </a:r>
          </a:p>
          <a:p>
            <a:pPr>
              <a:defRPr>
                <a:solidFill>
                  <a:srgbClr val="0070C0"/>
                </a:solidFill>
              </a:defRPr>
            </a:pPr>
            <a:r>
              <a:t>▪</a:t>
            </a:r>
            <a:r>
              <a:rPr>
                <a:solidFill>
                  <a:srgbClr val="000000"/>
                </a:solidFill>
              </a:rPr>
              <a:t>Follow with 1–2 plain-language sentences that:</a:t>
            </a:r>
          </a:p>
          <a:p>
            <a:pPr>
              <a:defRPr>
                <a:solidFill>
                  <a:srgbClr val="0070C0"/>
                </a:solidFill>
              </a:defRPr>
            </a:pPr>
            <a:r>
              <a:rPr err="1"/>
              <a:t>o</a:t>
            </a:r>
            <a:r>
              <a:rPr err="1">
                <a:solidFill>
                  <a:srgbClr val="000000"/>
                </a:solidFill>
              </a:rPr>
              <a:t>Explain</a:t>
            </a:r>
            <a:r>
              <a:rPr>
                <a:solidFill>
                  <a:srgbClr val="000000"/>
                </a:solidFill>
              </a:rPr>
              <a:t> what the data means</a:t>
            </a:r>
          </a:p>
          <a:p>
            <a:pPr>
              <a:defRPr>
                <a:solidFill>
                  <a:srgbClr val="0070C0"/>
                </a:solidFill>
              </a:defRPr>
            </a:pPr>
            <a:r>
              <a:rPr err="1"/>
              <a:t>o</a:t>
            </a:r>
            <a:r>
              <a:rPr err="1">
                <a:solidFill>
                  <a:srgbClr val="000000"/>
                </a:solidFill>
              </a:rPr>
              <a:t>Highlight</a:t>
            </a:r>
            <a:r>
              <a:rPr>
                <a:solidFill>
                  <a:srgbClr val="000000"/>
                </a:solidFill>
              </a:rPr>
              <a:t> one strength and one improvement opportunity</a:t>
            </a:r>
          </a:p>
          <a:p>
            <a:pPr>
              <a:defRPr>
                <a:solidFill>
                  <a:srgbClr val="0070C0"/>
                </a:solidFill>
              </a:defRPr>
            </a:pPr>
            <a:r>
              <a:rPr err="1"/>
              <a:t>o</a:t>
            </a:r>
            <a:r>
              <a:rPr err="1">
                <a:solidFill>
                  <a:srgbClr val="000000"/>
                </a:solidFill>
              </a:rPr>
              <a:t>Tie</a:t>
            </a:r>
            <a:r>
              <a:rPr>
                <a:solidFill>
                  <a:srgbClr val="000000"/>
                </a:solidFill>
              </a:rPr>
              <a:t> directly to business impact (risk, cost, reliability, productivity, or security)</a:t>
            </a:r>
          </a:p>
          <a:p>
            <a:pPr>
              <a:defRPr b="1"/>
            </a:pPr>
            <a:r>
              <a:t>Insights: </a:t>
            </a:r>
            <a:r>
              <a:rPr b="0"/>
              <a:t>Ask me three questions one at a time to gain further insights. </a:t>
            </a:r>
          </a:p>
          <a:p>
            <a:pPr>
              <a:defRPr b="1"/>
            </a:pPr>
            <a:r>
              <a:t>Guidelines:</a:t>
            </a:r>
          </a:p>
          <a:p>
            <a:pPr>
              <a:defRPr>
                <a:solidFill>
                  <a:srgbClr val="0070C0"/>
                </a:solidFill>
              </a:defRPr>
            </a:pPr>
            <a:r>
              <a:t>▪</a:t>
            </a:r>
            <a:r>
              <a:rPr>
                <a:solidFill>
                  <a:srgbClr val="000000"/>
                </a:solidFill>
              </a:rPr>
              <a:t>Business outcomes first, technology second</a:t>
            </a:r>
          </a:p>
          <a:p>
            <a:pPr>
              <a:defRPr>
                <a:solidFill>
                  <a:srgbClr val="0070C0"/>
                </a:solidFill>
              </a:defRPr>
            </a:pPr>
            <a:r>
              <a:t>▪</a:t>
            </a:r>
            <a:r>
              <a:rPr>
                <a:solidFill>
                  <a:srgbClr val="000000"/>
                </a:solidFill>
              </a:rPr>
              <a:t>No technical jargon, tools, or metrics</a:t>
            </a:r>
          </a:p>
          <a:p>
            <a:pPr>
              <a:defRPr>
                <a:solidFill>
                  <a:srgbClr val="0070C0"/>
                </a:solidFill>
              </a:defRPr>
            </a:pPr>
            <a:r>
              <a:t>▪</a:t>
            </a:r>
            <a:r>
              <a:rPr>
                <a:solidFill>
                  <a:srgbClr val="000000"/>
                </a:solidFill>
              </a:rPr>
              <a:t>Frame gaps as next-step maturity improvements</a:t>
            </a:r>
          </a:p>
          <a:p>
            <a:pPr>
              <a:defRPr>
                <a:solidFill>
                  <a:srgbClr val="0070C0"/>
                </a:solidFill>
              </a:defRPr>
            </a:pPr>
            <a:r>
              <a:t>▪</a:t>
            </a:r>
            <a:r>
              <a:rPr>
                <a:solidFill>
                  <a:srgbClr val="000000"/>
                </a:solidFill>
              </a:rPr>
              <a:t>Assume the environment is well managed</a:t>
            </a:r>
          </a:p>
          <a:p>
            <a:pPr>
              <a:defRPr>
                <a:solidFill>
                  <a:srgbClr val="0070C0"/>
                </a:solidFill>
              </a:defRPr>
            </a:pPr>
            <a:r>
              <a:t>▪</a:t>
            </a:r>
            <a:r>
              <a:rPr>
                <a:solidFill>
                  <a:srgbClr val="000000"/>
                </a:solidFill>
              </a:rPr>
              <a:t>Tone: Executive, confident, consultative</a:t>
            </a:r>
          </a:p>
          <a:p>
            <a:pPr>
              <a:defRPr b="1"/>
            </a:pPr>
            <a:r>
              <a:t>Formatting:</a:t>
            </a:r>
          </a:p>
          <a:p>
            <a:pPr>
              <a:defRPr>
                <a:solidFill>
                  <a:srgbClr val="0070C0"/>
                </a:solidFill>
              </a:defRPr>
            </a:pPr>
            <a:r>
              <a:t>▪</a:t>
            </a:r>
            <a:r>
              <a:rPr>
                <a:solidFill>
                  <a:srgbClr val="000000"/>
                </a:solidFill>
              </a:rPr>
              <a:t>Numbered 1–3</a:t>
            </a:r>
          </a:p>
          <a:p>
            <a:pPr>
              <a:defRPr>
                <a:solidFill>
                  <a:srgbClr val="0070C0"/>
                </a:solidFill>
              </a:defRPr>
            </a:pPr>
            <a:r>
              <a:t>▪</a:t>
            </a:r>
            <a:r>
              <a:rPr>
                <a:solidFill>
                  <a:srgbClr val="000000"/>
                </a:solidFill>
              </a:rPr>
              <a:t>Headline first, short paragraph below</a:t>
            </a:r>
          </a:p>
          <a:p>
            <a:pPr>
              <a:defRPr>
                <a:solidFill>
                  <a:srgbClr val="0070C0"/>
                </a:solidFill>
              </a:defRPr>
            </a:pPr>
            <a:r>
              <a:t>▪</a:t>
            </a:r>
            <a:r>
              <a:rPr>
                <a:solidFill>
                  <a:srgbClr val="000000"/>
                </a:solidFill>
              </a:rPr>
              <a:t>Slide-ready with no rewriting</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4" name="Body Level One…"/>
          <p:cNvSpPr txBox="1">
            <a:spLocks noGrp="1"/>
          </p:cNvSpPr>
          <p:nvPr>
            <p:ph type="body" sz="half" idx="1"/>
          </p:nvPr>
        </p:nvSpPr>
        <p:spPr>
          <a:xfrm>
            <a:off x="1371600" y="1885950"/>
            <a:ext cx="6400800" cy="1616185"/>
          </a:xfrm>
          <a:prstGeom prst="rect">
            <a:avLst/>
          </a:prstGeom>
        </p:spPr>
        <p:txBody>
          <a:bodyPr lIns="0" tIns="0" rIns="0" bIns="0"/>
          <a:lstStyle>
            <a:lvl1pPr marL="0" indent="0" algn="ctr">
              <a:spcBef>
                <a:spcPts val="0"/>
              </a:spcBef>
              <a:buClrTx/>
              <a:buSzTx/>
              <a:buNone/>
              <a:defRPr sz="3700" spc="30">
                <a:solidFill>
                  <a:srgbClr val="8BAE6C"/>
                </a:solidFill>
              </a:defRPr>
            </a:lvl1pPr>
            <a:lvl2pPr marL="0" indent="342900" algn="ctr">
              <a:spcBef>
                <a:spcPts val="0"/>
              </a:spcBef>
              <a:buClrTx/>
              <a:buSzTx/>
              <a:buNone/>
              <a:defRPr sz="3700" spc="30">
                <a:solidFill>
                  <a:srgbClr val="8BAE6C"/>
                </a:solidFill>
              </a:defRPr>
            </a:lvl2pPr>
            <a:lvl3pPr marL="0" indent="685800" algn="ctr">
              <a:spcBef>
                <a:spcPts val="0"/>
              </a:spcBef>
              <a:buClrTx/>
              <a:buSzTx/>
              <a:buNone/>
              <a:defRPr sz="3700" spc="30">
                <a:solidFill>
                  <a:srgbClr val="8BAE6C"/>
                </a:solidFill>
              </a:defRPr>
            </a:lvl3pPr>
            <a:lvl4pPr marL="0" indent="1028700" algn="ctr">
              <a:spcBef>
                <a:spcPts val="0"/>
              </a:spcBef>
              <a:buClrTx/>
              <a:buSzTx/>
              <a:buNone/>
              <a:defRPr sz="3700" spc="30">
                <a:solidFill>
                  <a:srgbClr val="8BAE6C"/>
                </a:solidFill>
              </a:defRPr>
            </a:lvl4pPr>
            <a:lvl5pPr marL="0" indent="1371600" algn="ctr">
              <a:spcBef>
                <a:spcPts val="0"/>
              </a:spcBef>
              <a:buClrTx/>
              <a:buSzTx/>
              <a:buNone/>
              <a:defRPr sz="3700" spc="30">
                <a:solidFill>
                  <a:srgbClr val="8BAE6C"/>
                </a:solidFill>
              </a:defRPr>
            </a:lvl5pPr>
          </a:lstStyle>
          <a:p>
            <a:r>
              <a:t>Body Level One</a:t>
            </a:r>
          </a:p>
          <a:p>
            <a:pPr lvl="1"/>
            <a:r>
              <a:t>Body Level Two</a:t>
            </a:r>
          </a:p>
          <a:p>
            <a:pPr lvl="2"/>
            <a:r>
              <a:t>Body Level Three</a:t>
            </a:r>
          </a:p>
          <a:p>
            <a:pPr lvl="3"/>
            <a:r>
              <a:t>Body Level Four</a:t>
            </a:r>
          </a:p>
          <a:p>
            <a:pPr lvl="4"/>
            <a:r>
              <a:t>Body Level Five</a:t>
            </a:r>
          </a:p>
        </p:txBody>
      </p:sp>
      <p:sp>
        <p:nvSpPr>
          <p:cNvPr id="15" name="Picture Placeholder 2"/>
          <p:cNvSpPr>
            <a:spLocks noGrp="1"/>
          </p:cNvSpPr>
          <p:nvPr>
            <p:ph type="pic" sz="quarter" idx="21"/>
          </p:nvPr>
        </p:nvSpPr>
        <p:spPr>
          <a:xfrm>
            <a:off x="2514600" y="342900"/>
            <a:ext cx="4169665" cy="1200150"/>
          </a:xfrm>
          <a:prstGeom prst="rect">
            <a:avLst/>
          </a:prstGeom>
        </p:spPr>
        <p:txBody>
          <a:bodyPr lIns="91439" rIns="91439">
            <a:noAutofit/>
          </a:bodyPr>
          <a:lstStyle/>
          <a:p>
            <a:endParaRPr/>
          </a:p>
        </p:txBody>
      </p:sp>
      <p:pic>
        <p:nvPicPr>
          <p:cNvPr id="16" name="Picture 6" descr="Picture 6"/>
          <p:cNvPicPr>
            <a:picLocks noChangeAspect="1"/>
          </p:cNvPicPr>
          <p:nvPr/>
        </p:nvPicPr>
        <p:blipFill>
          <a:blip r:embed="rId2"/>
          <a:stretch>
            <a:fillRect/>
          </a:stretch>
        </p:blipFill>
        <p:spPr>
          <a:xfrm>
            <a:off x="6720840" y="4172015"/>
            <a:ext cx="1965961" cy="560391"/>
          </a:xfrm>
          <a:prstGeom prst="rect">
            <a:avLst/>
          </a:prstGeom>
          <a:ln w="12700">
            <a:miter lim="400000"/>
          </a:ln>
        </p:spPr>
      </p:pic>
      <p:sp>
        <p:nvSpPr>
          <p:cNvPr id="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4" name="Title Text"/>
          <p:cNvSpPr txBox="1">
            <a:spLocks noGrp="1"/>
          </p:cNvSpPr>
          <p:nvPr>
            <p:ph type="title"/>
          </p:nvPr>
        </p:nvSpPr>
        <p:spPr>
          <a:prstGeom prst="rect">
            <a:avLst/>
          </a:prstGeom>
        </p:spPr>
        <p:txBody>
          <a:bodyPr/>
          <a:lstStyle/>
          <a:p>
            <a:r>
              <a:t>Title Text</a:t>
            </a:r>
          </a:p>
        </p:txBody>
      </p:sp>
      <p:sp>
        <p:nvSpPr>
          <p:cNvPr id="25"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 and Content no logo">
    <p:spTree>
      <p:nvGrpSpPr>
        <p:cNvPr id="1" name=""/>
        <p:cNvGrpSpPr/>
        <p:nvPr/>
      </p:nvGrpSpPr>
      <p:grpSpPr>
        <a:xfrm>
          <a:off x="0" y="0"/>
          <a:ext cx="0" cy="0"/>
          <a:chOff x="0" y="0"/>
          <a:chExt cx="0" cy="0"/>
        </a:xfrm>
      </p:grpSpPr>
      <p:pic>
        <p:nvPicPr>
          <p:cNvPr id="33" name="Picture 8" descr="Picture 8"/>
          <p:cNvPicPr>
            <a:picLocks noChangeAspect="1"/>
          </p:cNvPicPr>
          <p:nvPr/>
        </p:nvPicPr>
        <p:blipFill>
          <a:blip r:embed="rId2"/>
          <a:stretch>
            <a:fillRect/>
          </a:stretch>
        </p:blipFill>
        <p:spPr>
          <a:xfrm>
            <a:off x="7072038" y="4364414"/>
            <a:ext cx="1614949" cy="457201"/>
          </a:xfrm>
          <a:prstGeom prst="rect">
            <a:avLst/>
          </a:prstGeom>
          <a:ln w="12700">
            <a:miter lim="400000"/>
          </a:ln>
        </p:spPr>
      </p:pic>
      <p:pic>
        <p:nvPicPr>
          <p:cNvPr id="34" name="Picture 9" descr="Picture 9"/>
          <p:cNvPicPr>
            <a:picLocks noChangeAspect="1"/>
          </p:cNvPicPr>
          <p:nvPr/>
        </p:nvPicPr>
        <p:blipFill>
          <a:blip r:embed="rId3"/>
          <a:stretch>
            <a:fillRect/>
          </a:stretch>
        </p:blipFill>
        <p:spPr>
          <a:xfrm>
            <a:off x="0" y="4762567"/>
            <a:ext cx="9144000" cy="228601"/>
          </a:xfrm>
          <a:prstGeom prst="rect">
            <a:avLst/>
          </a:prstGeom>
          <a:ln w="12700">
            <a:miter lim="400000"/>
          </a:ln>
        </p:spPr>
      </p:pic>
      <p:sp>
        <p:nvSpPr>
          <p:cNvPr id="35" name="Title Text"/>
          <p:cNvSpPr txBox="1">
            <a:spLocks noGrp="1"/>
          </p:cNvSpPr>
          <p:nvPr>
            <p:ph type="title"/>
          </p:nvPr>
        </p:nvSpPr>
        <p:spPr>
          <a:prstGeom prst="rect">
            <a:avLst/>
          </a:prstGeom>
        </p:spPr>
        <p:txBody>
          <a:bodyPr/>
          <a:lstStyle/>
          <a:p>
            <a:r>
              <a:t>Title Text</a:t>
            </a:r>
          </a:p>
        </p:txBody>
      </p:sp>
      <p:sp>
        <p:nvSpPr>
          <p:cNvPr id="36"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7" name="Slide Number"/>
          <p:cNvSpPr txBox="1">
            <a:spLocks noGrp="1"/>
          </p:cNvSpPr>
          <p:nvPr>
            <p:ph type="sldNum" sz="quarter" idx="2"/>
          </p:nvPr>
        </p:nvSpPr>
        <p:spPr>
          <a:xfrm>
            <a:off x="8466797" y="4954908"/>
            <a:ext cx="220003" cy="205914"/>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44" name="Picture Placeholder 2"/>
          <p:cNvSpPr>
            <a:spLocks noGrp="1"/>
          </p:cNvSpPr>
          <p:nvPr>
            <p:ph type="pic" sz="half" idx="21"/>
          </p:nvPr>
        </p:nvSpPr>
        <p:spPr>
          <a:xfrm>
            <a:off x="457200" y="205741"/>
            <a:ext cx="3154680" cy="3936492"/>
          </a:xfrm>
          <a:prstGeom prst="rect">
            <a:avLst/>
          </a:prstGeom>
        </p:spPr>
        <p:txBody>
          <a:bodyPr lIns="91439" rIns="91439">
            <a:noAutofit/>
          </a:bodyPr>
          <a:lstStyle/>
          <a:p>
            <a:endParaRPr/>
          </a:p>
        </p:txBody>
      </p:sp>
      <p:sp>
        <p:nvSpPr>
          <p:cNvPr id="45" name="Picture Placeholder 2"/>
          <p:cNvSpPr>
            <a:spLocks noGrp="1"/>
          </p:cNvSpPr>
          <p:nvPr>
            <p:ph type="pic" sz="quarter" idx="22"/>
          </p:nvPr>
        </p:nvSpPr>
        <p:spPr>
          <a:xfrm>
            <a:off x="4114800" y="205741"/>
            <a:ext cx="4572000" cy="1440179"/>
          </a:xfrm>
          <a:prstGeom prst="rect">
            <a:avLst/>
          </a:prstGeom>
        </p:spPr>
        <p:txBody>
          <a:bodyPr lIns="91439" rIns="91439">
            <a:noAutofit/>
          </a:bodyPr>
          <a:lstStyle/>
          <a:p>
            <a:endParaRPr/>
          </a:p>
        </p:txBody>
      </p:sp>
      <p:sp>
        <p:nvSpPr>
          <p:cNvPr id="46" name="Body Level One…"/>
          <p:cNvSpPr txBox="1">
            <a:spLocks noGrp="1"/>
          </p:cNvSpPr>
          <p:nvPr>
            <p:ph type="body" sz="half" idx="1"/>
          </p:nvPr>
        </p:nvSpPr>
        <p:spPr>
          <a:xfrm>
            <a:off x="4114800" y="1662055"/>
            <a:ext cx="4572000" cy="2488800"/>
          </a:xfrm>
          <a:prstGeom prst="rect">
            <a:avLst/>
          </a:prstGeom>
        </p:spPr>
        <p:txBody>
          <a:bodyPr/>
          <a:lstStyle>
            <a:lvl3pPr marL="558800" indent="-177800"/>
          </a:lstStyle>
          <a:p>
            <a:r>
              <a:t>Body Level One</a:t>
            </a:r>
          </a:p>
          <a:p>
            <a:pPr lvl="1"/>
            <a:r>
              <a:t>Body Level Two</a:t>
            </a:r>
          </a:p>
          <a:p>
            <a:pPr lvl="2"/>
            <a:r>
              <a:t>Body Level Three</a:t>
            </a:r>
          </a:p>
          <a:p>
            <a:pPr lvl="3"/>
            <a:r>
              <a:t>Body Level Four</a:t>
            </a:r>
          </a:p>
          <a:p>
            <a:pPr lvl="4"/>
            <a:r>
              <a:t>Body Level Five</a:t>
            </a:r>
          </a:p>
        </p:txBody>
      </p:sp>
      <p:sp>
        <p:nvSpPr>
          <p:cNvPr id="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54" name="Body Level One…"/>
          <p:cNvSpPr txBox="1">
            <a:spLocks noGrp="1"/>
          </p:cNvSpPr>
          <p:nvPr>
            <p:ph type="body" sz="half" idx="1"/>
          </p:nvPr>
        </p:nvSpPr>
        <p:spPr>
          <a:xfrm>
            <a:off x="4114800" y="219456"/>
            <a:ext cx="4572000" cy="3933014"/>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5" name="Picture Placeholder 2"/>
          <p:cNvSpPr>
            <a:spLocks noGrp="1"/>
          </p:cNvSpPr>
          <p:nvPr>
            <p:ph type="pic" sz="half" idx="21"/>
          </p:nvPr>
        </p:nvSpPr>
        <p:spPr>
          <a:xfrm>
            <a:off x="457200" y="205740"/>
            <a:ext cx="3154680" cy="3936492"/>
          </a:xfrm>
          <a:prstGeom prst="rect">
            <a:avLst/>
          </a:prstGeom>
        </p:spPr>
        <p:txBody>
          <a:bodyPr lIns="91439" rIns="91439">
            <a:noAutofit/>
          </a:bodyPr>
          <a:lstStyle/>
          <a:p>
            <a:endParaRPr/>
          </a:p>
        </p:txBody>
      </p:sp>
      <p:sp>
        <p:nvSpPr>
          <p:cNvPr id="5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6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70" name="Body Level One…"/>
          <p:cNvSpPr txBox="1">
            <a:spLocks noGrp="1"/>
          </p:cNvSpPr>
          <p:nvPr>
            <p:ph type="body" sz="half" idx="1"/>
          </p:nvPr>
        </p:nvSpPr>
        <p:spPr>
          <a:xfrm>
            <a:off x="457200" y="217842"/>
            <a:ext cx="4572000" cy="3933014"/>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1" name="Picture Placeholder 2"/>
          <p:cNvSpPr>
            <a:spLocks noGrp="1"/>
          </p:cNvSpPr>
          <p:nvPr>
            <p:ph type="pic" sz="half" idx="21"/>
          </p:nvPr>
        </p:nvSpPr>
        <p:spPr>
          <a:xfrm>
            <a:off x="5586984" y="215149"/>
            <a:ext cx="3154681" cy="3936493"/>
          </a:xfrm>
          <a:prstGeom prst="rect">
            <a:avLst/>
          </a:prstGeom>
        </p:spPr>
        <p:txBody>
          <a:bodyPr lIns="91439" rIns="91439">
            <a:noAutofit/>
          </a:bodyPr>
          <a:lstStyle/>
          <a:p>
            <a:endParaRPr/>
          </a:p>
        </p:txBody>
      </p:sp>
      <p:sp>
        <p:nvSpPr>
          <p:cNvPr id="7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pic>
        <p:nvPicPr>
          <p:cNvPr id="79" name="Picture 6" descr="Picture 6"/>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80" name="Title Text"/>
          <p:cNvSpPr txBox="1">
            <a:spLocks noGrp="1"/>
          </p:cNvSpPr>
          <p:nvPr>
            <p:ph type="title"/>
          </p:nvPr>
        </p:nvSpPr>
        <p:spPr>
          <a:xfrm>
            <a:off x="457200" y="1673544"/>
            <a:ext cx="8229601" cy="1292622"/>
          </a:xfrm>
          <a:prstGeom prst="rect">
            <a:avLst/>
          </a:prstGeom>
        </p:spPr>
        <p:txBody>
          <a:bodyPr/>
          <a:lstStyle>
            <a:lvl1pPr>
              <a:defRPr>
                <a:solidFill>
                  <a:srgbClr val="FFFFFF"/>
                </a:solidFill>
              </a:defRPr>
            </a:lvl1pPr>
          </a:lstStyle>
          <a:p>
            <a:r>
              <a:t>Title Text</a:t>
            </a:r>
          </a:p>
        </p:txBody>
      </p:sp>
      <p:pic>
        <p:nvPicPr>
          <p:cNvPr id="81" name="TeamLogic_white.png" descr="TeamLogic_white.png"/>
          <p:cNvPicPr>
            <a:picLocks noChangeAspect="1"/>
          </p:cNvPicPr>
          <p:nvPr/>
        </p:nvPicPr>
        <p:blipFill>
          <a:blip r:embed="rId3"/>
          <a:stretch>
            <a:fillRect/>
          </a:stretch>
        </p:blipFill>
        <p:spPr>
          <a:xfrm>
            <a:off x="6720840" y="4172014"/>
            <a:ext cx="1965961" cy="560392"/>
          </a:xfrm>
          <a:prstGeom prst="rect">
            <a:avLst/>
          </a:prstGeom>
          <a:ln w="12700">
            <a:miter lim="400000"/>
          </a:ln>
        </p:spPr>
      </p:pic>
      <p:sp>
        <p:nvSpPr>
          <p:cNvPr id="8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pic>
        <p:nvPicPr>
          <p:cNvPr id="89" name="Picture 9" descr="Picture 9"/>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90" name="Title Text"/>
          <p:cNvSpPr txBox="1">
            <a:spLocks noGrp="1"/>
          </p:cNvSpPr>
          <p:nvPr>
            <p:ph type="title"/>
          </p:nvPr>
        </p:nvSpPr>
        <p:spPr>
          <a:xfrm>
            <a:off x="457200" y="1673544"/>
            <a:ext cx="8229601" cy="1292622"/>
          </a:xfrm>
          <a:prstGeom prst="rect">
            <a:avLst/>
          </a:prstGeom>
        </p:spPr>
        <p:txBody>
          <a:bodyPr/>
          <a:lstStyle>
            <a:lvl1pPr>
              <a:defRPr>
                <a:solidFill>
                  <a:srgbClr val="FFFFFF"/>
                </a:solidFill>
              </a:defRPr>
            </a:lvl1pPr>
          </a:lstStyle>
          <a:p>
            <a:r>
              <a:t>Title Text</a:t>
            </a:r>
          </a:p>
        </p:txBody>
      </p:sp>
      <p:pic>
        <p:nvPicPr>
          <p:cNvPr id="91" name="TeamLogic_white.png" descr="TeamLogic_white.png"/>
          <p:cNvPicPr>
            <a:picLocks noChangeAspect="1"/>
          </p:cNvPicPr>
          <p:nvPr/>
        </p:nvPicPr>
        <p:blipFill>
          <a:blip r:embed="rId3"/>
          <a:stretch>
            <a:fillRect/>
          </a:stretch>
        </p:blipFill>
        <p:spPr>
          <a:xfrm>
            <a:off x="6720840" y="4172014"/>
            <a:ext cx="1965961" cy="560392"/>
          </a:xfrm>
          <a:prstGeom prst="rect">
            <a:avLst/>
          </a:prstGeom>
          <a:ln w="12700">
            <a:miter lim="400000"/>
          </a:ln>
        </p:spPr>
      </p:pic>
      <p:sp>
        <p:nvSpPr>
          <p:cNvPr id="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pic>
        <p:nvPicPr>
          <p:cNvPr id="99" name="Picture 9" descr="Picture 9"/>
          <p:cNvPicPr>
            <a:picLocks noChangeAspect="1"/>
          </p:cNvPicPr>
          <p:nvPr/>
        </p:nvPicPr>
        <p:blipFill>
          <a:blip r:embed="rId2"/>
          <a:stretch>
            <a:fillRect/>
          </a:stretch>
        </p:blipFill>
        <p:spPr>
          <a:xfrm>
            <a:off x="-5862" y="5861"/>
            <a:ext cx="9144001" cy="5143501"/>
          </a:xfrm>
          <a:prstGeom prst="rect">
            <a:avLst/>
          </a:prstGeom>
          <a:ln w="12700">
            <a:miter lim="400000"/>
          </a:ln>
        </p:spPr>
      </p:pic>
      <p:sp>
        <p:nvSpPr>
          <p:cNvPr id="100" name="Title Text"/>
          <p:cNvSpPr txBox="1">
            <a:spLocks noGrp="1"/>
          </p:cNvSpPr>
          <p:nvPr>
            <p:ph type="title"/>
          </p:nvPr>
        </p:nvSpPr>
        <p:spPr>
          <a:xfrm>
            <a:off x="457386" y="1673544"/>
            <a:ext cx="8229601" cy="1292622"/>
          </a:xfrm>
          <a:prstGeom prst="rect">
            <a:avLst/>
          </a:prstGeom>
        </p:spPr>
        <p:txBody>
          <a:bodyPr/>
          <a:lstStyle>
            <a:lvl1pPr>
              <a:defRPr>
                <a:solidFill>
                  <a:srgbClr val="FFFFFF"/>
                </a:solidFill>
              </a:defRPr>
            </a:lvl1pPr>
          </a:lstStyle>
          <a:p>
            <a:r>
              <a:t>Title Text</a:t>
            </a:r>
          </a:p>
        </p:txBody>
      </p:sp>
      <p:pic>
        <p:nvPicPr>
          <p:cNvPr id="101" name="TeamLogic_white.png" descr="TeamLogic_white.png"/>
          <p:cNvPicPr>
            <a:picLocks noChangeAspect="1"/>
          </p:cNvPicPr>
          <p:nvPr/>
        </p:nvPicPr>
        <p:blipFill>
          <a:blip r:embed="rId3"/>
          <a:stretch>
            <a:fillRect/>
          </a:stretch>
        </p:blipFill>
        <p:spPr>
          <a:xfrm>
            <a:off x="6720840" y="4172014"/>
            <a:ext cx="1965961" cy="560392"/>
          </a:xfrm>
          <a:prstGeom prst="rect">
            <a:avLst/>
          </a:prstGeom>
          <a:ln w="12700">
            <a:miter lim="400000"/>
          </a:ln>
        </p:spPr>
      </p:pic>
      <p:sp>
        <p:nvSpPr>
          <p:cNvPr id="1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 and Vertical Text">
    <p:spTree>
      <p:nvGrpSpPr>
        <p:cNvPr id="1" name=""/>
        <p:cNvGrpSpPr/>
        <p:nvPr/>
      </p:nvGrpSpPr>
      <p:grpSpPr>
        <a:xfrm>
          <a:off x="0" y="0"/>
          <a:ext cx="0" cy="0"/>
          <a:chOff x="0" y="0"/>
          <a:chExt cx="0" cy="0"/>
        </a:xfrm>
      </p:grpSpPr>
      <p:sp>
        <p:nvSpPr>
          <p:cNvPr id="109" name="Title Text"/>
          <p:cNvSpPr txBox="1">
            <a:spLocks noGrp="1"/>
          </p:cNvSpPr>
          <p:nvPr>
            <p:ph type="title"/>
          </p:nvPr>
        </p:nvSpPr>
        <p:spPr>
          <a:xfrm>
            <a:off x="1792288" y="3600450"/>
            <a:ext cx="5486401" cy="241300"/>
          </a:xfrm>
          <a:prstGeom prst="rect">
            <a:avLst/>
          </a:prstGeom>
        </p:spPr>
        <p:txBody>
          <a:bodyPr anchor="t"/>
          <a:lstStyle>
            <a:lvl1pPr algn="l">
              <a:defRPr sz="1600" b="1">
                <a:solidFill>
                  <a:srgbClr val="9CC52D"/>
                </a:solidFill>
              </a:defRPr>
            </a:lvl1pPr>
          </a:lstStyle>
          <a:p>
            <a:r>
              <a:t>Title Text</a:t>
            </a:r>
          </a:p>
        </p:txBody>
      </p:sp>
      <p:sp>
        <p:nvSpPr>
          <p:cNvPr id="110" name="Picture Placeholder 2"/>
          <p:cNvSpPr>
            <a:spLocks noGrp="1"/>
          </p:cNvSpPr>
          <p:nvPr>
            <p:ph type="pic" sz="half" idx="21"/>
          </p:nvPr>
        </p:nvSpPr>
        <p:spPr>
          <a:xfrm>
            <a:off x="1792288" y="459581"/>
            <a:ext cx="5486401" cy="3086101"/>
          </a:xfrm>
          <a:prstGeom prst="rect">
            <a:avLst/>
          </a:prstGeom>
        </p:spPr>
        <p:txBody>
          <a:bodyPr lIns="91439" rIns="91439">
            <a:noAutofit/>
          </a:bodyPr>
          <a:lstStyle/>
          <a:p>
            <a:endParaRPr/>
          </a:p>
        </p:txBody>
      </p:sp>
      <p:sp>
        <p:nvSpPr>
          <p:cNvPr id="111" name="Body Level One…"/>
          <p:cNvSpPr txBox="1">
            <a:spLocks noGrp="1"/>
          </p:cNvSpPr>
          <p:nvPr>
            <p:ph type="body" sz="quarter" idx="1"/>
          </p:nvPr>
        </p:nvSpPr>
        <p:spPr>
          <a:xfrm>
            <a:off x="1792288" y="3841751"/>
            <a:ext cx="5486401" cy="381001"/>
          </a:xfrm>
          <a:prstGeom prst="rect">
            <a:avLst/>
          </a:prstGeom>
        </p:spPr>
        <p:txBody>
          <a:bodyPr/>
          <a:lstStyle>
            <a:lvl1pPr marL="0" indent="0">
              <a:spcBef>
                <a:spcPts val="200"/>
              </a:spcBef>
              <a:buClrTx/>
              <a:buSzTx/>
              <a:buNone/>
              <a:defRPr sz="900">
                <a:solidFill>
                  <a:srgbClr val="595959"/>
                </a:solidFill>
              </a:defRPr>
            </a:lvl1pPr>
            <a:lvl2pPr marL="0" indent="342900">
              <a:spcBef>
                <a:spcPts val="200"/>
              </a:spcBef>
              <a:buClrTx/>
              <a:buSzTx/>
              <a:buNone/>
              <a:defRPr sz="900">
                <a:solidFill>
                  <a:srgbClr val="595959"/>
                </a:solidFill>
              </a:defRPr>
            </a:lvl2pPr>
            <a:lvl3pPr marL="0" indent="685800">
              <a:spcBef>
                <a:spcPts val="200"/>
              </a:spcBef>
              <a:buClrTx/>
              <a:buSzTx/>
              <a:buNone/>
              <a:defRPr sz="900">
                <a:solidFill>
                  <a:srgbClr val="595959"/>
                </a:solidFill>
              </a:defRPr>
            </a:lvl3pPr>
            <a:lvl4pPr marL="0" indent="1028700">
              <a:spcBef>
                <a:spcPts val="200"/>
              </a:spcBef>
              <a:buClrTx/>
              <a:buSzTx/>
              <a:buNone/>
              <a:defRPr sz="900">
                <a:solidFill>
                  <a:srgbClr val="595959"/>
                </a:solidFill>
              </a:defRPr>
            </a:lvl4pPr>
            <a:lvl5pPr marL="0" indent="1371600">
              <a:spcBef>
                <a:spcPts val="200"/>
              </a:spcBef>
              <a:buClrTx/>
              <a:buSzTx/>
              <a:buNone/>
              <a:defRPr sz="900">
                <a:solidFill>
                  <a:srgbClr val="595959"/>
                </a:solidFill>
              </a:defRPr>
            </a:lvl5p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with logo">
    <p:spTree>
      <p:nvGrpSpPr>
        <p:cNvPr id="1" name=""/>
        <p:cNvGrpSpPr/>
        <p:nvPr/>
      </p:nvGrpSpPr>
      <p:grpSpPr>
        <a:xfrm>
          <a:off x="0" y="0"/>
          <a:ext cx="0" cy="0"/>
          <a:chOff x="0" y="0"/>
          <a:chExt cx="0" cy="0"/>
        </a:xfrm>
      </p:grpSpPr>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blank with bar">
    <p:spTree>
      <p:nvGrpSpPr>
        <p:cNvPr id="1" name=""/>
        <p:cNvGrpSpPr/>
        <p:nvPr/>
      </p:nvGrpSpPr>
      <p:grpSpPr>
        <a:xfrm>
          <a:off x="0" y="0"/>
          <a:ext cx="0" cy="0"/>
          <a:chOff x="0" y="0"/>
          <a:chExt cx="0" cy="0"/>
        </a:xfrm>
      </p:grpSpPr>
      <p:pic>
        <p:nvPicPr>
          <p:cNvPr id="126" name="Picture 7" descr="Picture 7"/>
          <p:cNvPicPr>
            <a:picLocks noChangeAspect="1"/>
          </p:cNvPicPr>
          <p:nvPr/>
        </p:nvPicPr>
        <p:blipFill>
          <a:blip r:embed="rId2"/>
          <a:stretch>
            <a:fillRect/>
          </a:stretch>
        </p:blipFill>
        <p:spPr>
          <a:xfrm>
            <a:off x="0" y="4762567"/>
            <a:ext cx="9144000" cy="228603"/>
          </a:xfrm>
          <a:prstGeom prst="rect">
            <a:avLst/>
          </a:prstGeom>
          <a:ln w="12700">
            <a:miter lim="400000"/>
          </a:ln>
        </p:spPr>
      </p:pic>
      <p:sp>
        <p:nvSpPr>
          <p:cNvPr id="12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jpe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8" descr="Picture 8"/>
          <p:cNvPicPr>
            <a:picLocks noChangeAspect="1"/>
          </p:cNvPicPr>
          <p:nvPr/>
        </p:nvPicPr>
        <p:blipFill>
          <a:blip r:embed="rId15"/>
          <a:stretch>
            <a:fillRect/>
          </a:stretch>
        </p:blipFill>
        <p:spPr>
          <a:xfrm>
            <a:off x="7072038" y="4364414"/>
            <a:ext cx="1614949" cy="457201"/>
          </a:xfrm>
          <a:prstGeom prst="rect">
            <a:avLst/>
          </a:prstGeom>
          <a:ln w="12700">
            <a:miter lim="400000"/>
          </a:ln>
        </p:spPr>
      </p:pic>
      <p:pic>
        <p:nvPicPr>
          <p:cNvPr id="3" name="Picture 9" descr="Picture 9"/>
          <p:cNvPicPr>
            <a:picLocks noChangeAspect="1"/>
          </p:cNvPicPr>
          <p:nvPr/>
        </p:nvPicPr>
        <p:blipFill>
          <a:blip r:embed="rId16"/>
          <a:stretch>
            <a:fillRect/>
          </a:stretch>
        </p:blipFill>
        <p:spPr>
          <a:xfrm>
            <a:off x="0" y="4762567"/>
            <a:ext cx="9144000" cy="228601"/>
          </a:xfrm>
          <a:prstGeom prst="rect">
            <a:avLst/>
          </a:prstGeom>
          <a:ln w="12700">
            <a:miter lim="400000"/>
          </a:ln>
        </p:spPr>
      </p:pic>
      <p:pic>
        <p:nvPicPr>
          <p:cNvPr id="4" name="Picture 7" descr="Picture 7"/>
          <p:cNvPicPr>
            <a:picLocks noChangeAspect="1"/>
          </p:cNvPicPr>
          <p:nvPr/>
        </p:nvPicPr>
        <p:blipFill>
          <a:blip r:embed="rId17"/>
          <a:stretch>
            <a:fillRect/>
          </a:stretch>
        </p:blipFill>
        <p:spPr>
          <a:xfrm>
            <a:off x="6720840" y="4172015"/>
            <a:ext cx="1965961" cy="560391"/>
          </a:xfrm>
          <a:prstGeom prst="rect">
            <a:avLst/>
          </a:prstGeom>
          <a:ln w="12700">
            <a:miter lim="400000"/>
          </a:ln>
        </p:spPr>
      </p:pic>
      <p:sp>
        <p:nvSpPr>
          <p:cNvPr id="5" name="Title Text"/>
          <p:cNvSpPr txBox="1">
            <a:spLocks noGrp="1"/>
          </p:cNvSpPr>
          <p:nvPr>
            <p:ph type="title"/>
          </p:nvPr>
        </p:nvSpPr>
        <p:spPr>
          <a:xfrm>
            <a:off x="457200" y="205978"/>
            <a:ext cx="8229600" cy="8572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6" name="Body Level One…"/>
          <p:cNvSpPr txBox="1">
            <a:spLocks noGrp="1"/>
          </p:cNvSpPr>
          <p:nvPr>
            <p:ph type="body" idx="1"/>
          </p:nvPr>
        </p:nvSpPr>
        <p:spPr>
          <a:xfrm>
            <a:off x="457200" y="1200150"/>
            <a:ext cx="8229600" cy="33944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2pPr marL="381000" indent="-190500"/>
            <a:lvl3pPr marL="571500" indent="-190500"/>
            <a:lvl4pPr marL="762000" indent="-190500"/>
            <a:lvl5pPr marL="952500" indent="-190500"/>
          </a:lstStyle>
          <a:p>
            <a:r>
              <a:t>Body Level One</a:t>
            </a:r>
          </a:p>
          <a:p>
            <a:pPr lvl="1"/>
            <a:r>
              <a:t>Body Level Two</a:t>
            </a:r>
          </a:p>
          <a:p>
            <a:pPr lvl="2"/>
            <a:r>
              <a:t>Body Level Three</a:t>
            </a:r>
          </a:p>
          <a:p>
            <a:pPr lvl="3"/>
            <a:r>
              <a:t>Body Level Four</a:t>
            </a:r>
          </a:p>
          <a:p>
            <a:pPr lvl="4"/>
            <a:r>
              <a:t>Body Level Five</a:t>
            </a:r>
          </a:p>
        </p:txBody>
      </p:sp>
      <p:sp>
        <p:nvSpPr>
          <p:cNvPr id="7" name="Slide Number"/>
          <p:cNvSpPr txBox="1">
            <a:spLocks noGrp="1"/>
          </p:cNvSpPr>
          <p:nvPr>
            <p:ph type="sldNum" sz="quarter" idx="2"/>
          </p:nvPr>
        </p:nvSpPr>
        <p:spPr>
          <a:xfrm>
            <a:off x="8466797" y="4954908"/>
            <a:ext cx="220003" cy="205914"/>
          </a:xfrm>
          <a:prstGeom prst="rect">
            <a:avLst/>
          </a:prstGeom>
          <a:ln w="12700">
            <a:miter lim="400000"/>
          </a:ln>
        </p:spPr>
        <p:txBody>
          <a:bodyPr wrap="none" lIns="45719" rIns="45719" anchor="ctr">
            <a:spAutoFit/>
          </a:bodyPr>
          <a:lstStyle>
            <a:lvl1pPr algn="r">
              <a:defRPr sz="9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txStyles>
    <p:titleStyle>
      <a:lvl1pPr marL="0" marR="0" indent="0" algn="ctr" defTabSz="685800" latinLnBrk="0">
        <a:lnSpc>
          <a:spcPct val="100000"/>
        </a:lnSpc>
        <a:spcBef>
          <a:spcPts val="0"/>
        </a:spcBef>
        <a:spcAft>
          <a:spcPts val="0"/>
        </a:spcAft>
        <a:buClrTx/>
        <a:buSzTx/>
        <a:buFontTx/>
        <a:buNone/>
        <a:tabLst/>
        <a:defRPr sz="3600" b="0" i="0" u="none" strike="noStrike" cap="none" spc="0" baseline="0">
          <a:solidFill>
            <a:srgbClr val="8BAE6C"/>
          </a:solidFill>
          <a:uFillTx/>
          <a:latin typeface="Arial"/>
          <a:ea typeface="Arial"/>
          <a:cs typeface="Arial"/>
          <a:sym typeface="Arial"/>
        </a:defRPr>
      </a:lvl1pPr>
      <a:lvl2pPr marL="0" marR="0" indent="0" algn="ctr" defTabSz="685800" latinLnBrk="0">
        <a:lnSpc>
          <a:spcPct val="100000"/>
        </a:lnSpc>
        <a:spcBef>
          <a:spcPts val="0"/>
        </a:spcBef>
        <a:spcAft>
          <a:spcPts val="0"/>
        </a:spcAft>
        <a:buClrTx/>
        <a:buSzTx/>
        <a:buFontTx/>
        <a:buNone/>
        <a:tabLst/>
        <a:defRPr sz="3600" b="0" i="0" u="none" strike="noStrike" cap="none" spc="0" baseline="0">
          <a:solidFill>
            <a:srgbClr val="8BAE6C"/>
          </a:solidFill>
          <a:uFillTx/>
          <a:latin typeface="Arial"/>
          <a:ea typeface="Arial"/>
          <a:cs typeface="Arial"/>
          <a:sym typeface="Arial"/>
        </a:defRPr>
      </a:lvl2pPr>
      <a:lvl3pPr marL="0" marR="0" indent="0" algn="ctr" defTabSz="685800" latinLnBrk="0">
        <a:lnSpc>
          <a:spcPct val="100000"/>
        </a:lnSpc>
        <a:spcBef>
          <a:spcPts val="0"/>
        </a:spcBef>
        <a:spcAft>
          <a:spcPts val="0"/>
        </a:spcAft>
        <a:buClrTx/>
        <a:buSzTx/>
        <a:buFontTx/>
        <a:buNone/>
        <a:tabLst/>
        <a:defRPr sz="3600" b="0" i="0" u="none" strike="noStrike" cap="none" spc="0" baseline="0">
          <a:solidFill>
            <a:srgbClr val="8BAE6C"/>
          </a:solidFill>
          <a:uFillTx/>
          <a:latin typeface="Arial"/>
          <a:ea typeface="Arial"/>
          <a:cs typeface="Arial"/>
          <a:sym typeface="Arial"/>
        </a:defRPr>
      </a:lvl3pPr>
      <a:lvl4pPr marL="0" marR="0" indent="0" algn="ctr" defTabSz="685800" latinLnBrk="0">
        <a:lnSpc>
          <a:spcPct val="100000"/>
        </a:lnSpc>
        <a:spcBef>
          <a:spcPts val="0"/>
        </a:spcBef>
        <a:spcAft>
          <a:spcPts val="0"/>
        </a:spcAft>
        <a:buClrTx/>
        <a:buSzTx/>
        <a:buFontTx/>
        <a:buNone/>
        <a:tabLst/>
        <a:defRPr sz="3600" b="0" i="0" u="none" strike="noStrike" cap="none" spc="0" baseline="0">
          <a:solidFill>
            <a:srgbClr val="8BAE6C"/>
          </a:solidFill>
          <a:uFillTx/>
          <a:latin typeface="Arial"/>
          <a:ea typeface="Arial"/>
          <a:cs typeface="Arial"/>
          <a:sym typeface="Arial"/>
        </a:defRPr>
      </a:lvl4pPr>
      <a:lvl5pPr marL="0" marR="0" indent="0" algn="ctr" defTabSz="685800" latinLnBrk="0">
        <a:lnSpc>
          <a:spcPct val="100000"/>
        </a:lnSpc>
        <a:spcBef>
          <a:spcPts val="0"/>
        </a:spcBef>
        <a:spcAft>
          <a:spcPts val="0"/>
        </a:spcAft>
        <a:buClrTx/>
        <a:buSzTx/>
        <a:buFontTx/>
        <a:buNone/>
        <a:tabLst/>
        <a:defRPr sz="3600" b="0" i="0" u="none" strike="noStrike" cap="none" spc="0" baseline="0">
          <a:solidFill>
            <a:srgbClr val="8BAE6C"/>
          </a:solidFill>
          <a:uFillTx/>
          <a:latin typeface="Arial"/>
          <a:ea typeface="Arial"/>
          <a:cs typeface="Arial"/>
          <a:sym typeface="Arial"/>
        </a:defRPr>
      </a:lvl5pPr>
      <a:lvl6pPr marL="0" marR="0" indent="0" algn="ctr" defTabSz="685800" latinLnBrk="0">
        <a:lnSpc>
          <a:spcPct val="100000"/>
        </a:lnSpc>
        <a:spcBef>
          <a:spcPts val="0"/>
        </a:spcBef>
        <a:spcAft>
          <a:spcPts val="0"/>
        </a:spcAft>
        <a:buClrTx/>
        <a:buSzTx/>
        <a:buFontTx/>
        <a:buNone/>
        <a:tabLst/>
        <a:defRPr sz="3600" b="0" i="0" u="none" strike="noStrike" cap="none" spc="0" baseline="0">
          <a:solidFill>
            <a:srgbClr val="8BAE6C"/>
          </a:solidFill>
          <a:uFillTx/>
          <a:latin typeface="Arial"/>
          <a:ea typeface="Arial"/>
          <a:cs typeface="Arial"/>
          <a:sym typeface="Arial"/>
        </a:defRPr>
      </a:lvl6pPr>
      <a:lvl7pPr marL="0" marR="0" indent="0" algn="ctr" defTabSz="685800" latinLnBrk="0">
        <a:lnSpc>
          <a:spcPct val="100000"/>
        </a:lnSpc>
        <a:spcBef>
          <a:spcPts val="0"/>
        </a:spcBef>
        <a:spcAft>
          <a:spcPts val="0"/>
        </a:spcAft>
        <a:buClrTx/>
        <a:buSzTx/>
        <a:buFontTx/>
        <a:buNone/>
        <a:tabLst/>
        <a:defRPr sz="3600" b="0" i="0" u="none" strike="noStrike" cap="none" spc="0" baseline="0">
          <a:solidFill>
            <a:srgbClr val="8BAE6C"/>
          </a:solidFill>
          <a:uFillTx/>
          <a:latin typeface="Arial"/>
          <a:ea typeface="Arial"/>
          <a:cs typeface="Arial"/>
          <a:sym typeface="Arial"/>
        </a:defRPr>
      </a:lvl7pPr>
      <a:lvl8pPr marL="0" marR="0" indent="0" algn="ctr" defTabSz="685800" latinLnBrk="0">
        <a:lnSpc>
          <a:spcPct val="100000"/>
        </a:lnSpc>
        <a:spcBef>
          <a:spcPts val="0"/>
        </a:spcBef>
        <a:spcAft>
          <a:spcPts val="0"/>
        </a:spcAft>
        <a:buClrTx/>
        <a:buSzTx/>
        <a:buFontTx/>
        <a:buNone/>
        <a:tabLst/>
        <a:defRPr sz="3600" b="0" i="0" u="none" strike="noStrike" cap="none" spc="0" baseline="0">
          <a:solidFill>
            <a:srgbClr val="8BAE6C"/>
          </a:solidFill>
          <a:uFillTx/>
          <a:latin typeface="Arial"/>
          <a:ea typeface="Arial"/>
          <a:cs typeface="Arial"/>
          <a:sym typeface="Arial"/>
        </a:defRPr>
      </a:lvl8pPr>
      <a:lvl9pPr marL="0" marR="0" indent="0" algn="ctr" defTabSz="685800" latinLnBrk="0">
        <a:lnSpc>
          <a:spcPct val="100000"/>
        </a:lnSpc>
        <a:spcBef>
          <a:spcPts val="0"/>
        </a:spcBef>
        <a:spcAft>
          <a:spcPts val="0"/>
        </a:spcAft>
        <a:buClrTx/>
        <a:buSzTx/>
        <a:buFontTx/>
        <a:buNone/>
        <a:tabLst/>
        <a:defRPr sz="3600" b="0" i="0" u="none" strike="noStrike" cap="none" spc="0" baseline="0">
          <a:solidFill>
            <a:srgbClr val="8BAE6C"/>
          </a:solidFill>
          <a:uFillTx/>
          <a:latin typeface="Arial"/>
          <a:ea typeface="Arial"/>
          <a:cs typeface="Arial"/>
          <a:sym typeface="Arial"/>
        </a:defRPr>
      </a:lvl9pPr>
    </p:titleStyle>
    <p:bodyStyle>
      <a:lvl1pPr marL="190500" marR="0" indent="-190500" algn="l" defTabSz="685800" latinLnBrk="0">
        <a:lnSpc>
          <a:spcPct val="100000"/>
        </a:lnSpc>
        <a:spcBef>
          <a:spcPts val="800"/>
        </a:spcBef>
        <a:spcAft>
          <a:spcPts val="0"/>
        </a:spcAft>
        <a:buClr>
          <a:srgbClr val="0095DA"/>
        </a:buClr>
        <a:buSzPct val="100000"/>
        <a:buFontTx/>
        <a:buChar char="▪"/>
        <a:tabLst/>
        <a:defRPr sz="1600" b="0" i="0" u="none" strike="noStrike" cap="none" spc="0" baseline="0">
          <a:solidFill>
            <a:srgbClr val="000000"/>
          </a:solidFill>
          <a:uFillTx/>
          <a:latin typeface="Arial"/>
          <a:ea typeface="Arial"/>
          <a:cs typeface="Arial"/>
          <a:sym typeface="Arial"/>
        </a:defRPr>
      </a:lvl1pPr>
      <a:lvl2pPr marL="405323" marR="0" indent="-146957" algn="l" defTabSz="685800" latinLnBrk="0">
        <a:lnSpc>
          <a:spcPct val="100000"/>
        </a:lnSpc>
        <a:spcBef>
          <a:spcPts val="800"/>
        </a:spcBef>
        <a:spcAft>
          <a:spcPts val="0"/>
        </a:spcAft>
        <a:buClr>
          <a:srgbClr val="0095DA"/>
        </a:buClr>
        <a:buSzPct val="100000"/>
        <a:buFontTx/>
        <a:buChar char="▪"/>
        <a:tabLst/>
        <a:defRPr sz="1600" b="0" i="0" u="none" strike="noStrike" cap="none" spc="0" baseline="0">
          <a:solidFill>
            <a:srgbClr val="000000"/>
          </a:solidFill>
          <a:uFillTx/>
          <a:latin typeface="Arial"/>
          <a:ea typeface="Arial"/>
          <a:cs typeface="Arial"/>
          <a:sym typeface="Arial"/>
        </a:defRPr>
      </a:lvl2pPr>
      <a:lvl3pPr marL="663688" marR="0" indent="-146957" algn="l" defTabSz="685800" latinLnBrk="0">
        <a:lnSpc>
          <a:spcPct val="100000"/>
        </a:lnSpc>
        <a:spcBef>
          <a:spcPts val="800"/>
        </a:spcBef>
        <a:spcAft>
          <a:spcPts val="0"/>
        </a:spcAft>
        <a:buClr>
          <a:srgbClr val="0095DA"/>
        </a:buClr>
        <a:buSzPct val="100000"/>
        <a:buFontTx/>
        <a:buChar char="▪"/>
        <a:tabLst/>
        <a:defRPr sz="1600" b="0" i="0" u="none" strike="noStrike" cap="none" spc="0" baseline="0">
          <a:solidFill>
            <a:srgbClr val="000000"/>
          </a:solidFill>
          <a:uFillTx/>
          <a:latin typeface="Arial"/>
          <a:ea typeface="Arial"/>
          <a:cs typeface="Arial"/>
          <a:sym typeface="Arial"/>
        </a:defRPr>
      </a:lvl3pPr>
      <a:lvl4pPr marL="922054" marR="0" indent="-146957" algn="l" defTabSz="685800" latinLnBrk="0">
        <a:lnSpc>
          <a:spcPct val="100000"/>
        </a:lnSpc>
        <a:spcBef>
          <a:spcPts val="800"/>
        </a:spcBef>
        <a:spcAft>
          <a:spcPts val="0"/>
        </a:spcAft>
        <a:buClr>
          <a:srgbClr val="0095DA"/>
        </a:buClr>
        <a:buSzPct val="100000"/>
        <a:buFontTx/>
        <a:buChar char="▪"/>
        <a:tabLst/>
        <a:defRPr sz="1600" b="0" i="0" u="none" strike="noStrike" cap="none" spc="0" baseline="0">
          <a:solidFill>
            <a:srgbClr val="000000"/>
          </a:solidFill>
          <a:uFillTx/>
          <a:latin typeface="Arial"/>
          <a:ea typeface="Arial"/>
          <a:cs typeface="Arial"/>
          <a:sym typeface="Arial"/>
        </a:defRPr>
      </a:lvl4pPr>
      <a:lvl5pPr marL="1171065" marR="0" indent="-138793" algn="l" defTabSz="685800" latinLnBrk="0">
        <a:lnSpc>
          <a:spcPct val="100000"/>
        </a:lnSpc>
        <a:spcBef>
          <a:spcPts val="800"/>
        </a:spcBef>
        <a:spcAft>
          <a:spcPts val="0"/>
        </a:spcAft>
        <a:buClr>
          <a:srgbClr val="0095DA"/>
        </a:buClr>
        <a:buSzPct val="100000"/>
        <a:buFontTx/>
        <a:buChar char="▪"/>
        <a:tabLst/>
        <a:defRPr sz="1600" b="0" i="0" u="none" strike="noStrike" cap="none" spc="0" baseline="0">
          <a:solidFill>
            <a:srgbClr val="000000"/>
          </a:solidFill>
          <a:uFillTx/>
          <a:latin typeface="Arial"/>
          <a:ea typeface="Arial"/>
          <a:cs typeface="Arial"/>
          <a:sym typeface="Arial"/>
        </a:defRPr>
      </a:lvl5pPr>
      <a:lvl6pPr marL="1897379" marR="0" indent="-182879" algn="l" defTabSz="685800" latinLnBrk="0">
        <a:lnSpc>
          <a:spcPct val="100000"/>
        </a:lnSpc>
        <a:spcBef>
          <a:spcPts val="800"/>
        </a:spcBef>
        <a:spcAft>
          <a:spcPts val="0"/>
        </a:spcAft>
        <a:buClr>
          <a:srgbClr val="0095DA"/>
        </a:buClr>
        <a:buSzPct val="100000"/>
        <a:buFontTx/>
        <a:buChar char="•"/>
        <a:tabLst/>
        <a:defRPr sz="1600" b="0" i="0" u="none" strike="noStrike" cap="none" spc="0" baseline="0">
          <a:solidFill>
            <a:srgbClr val="000000"/>
          </a:solidFill>
          <a:uFillTx/>
          <a:latin typeface="Arial"/>
          <a:ea typeface="Arial"/>
          <a:cs typeface="Arial"/>
          <a:sym typeface="Arial"/>
        </a:defRPr>
      </a:lvl6pPr>
      <a:lvl7pPr marL="2240279" marR="0" indent="-182879" algn="l" defTabSz="685800" latinLnBrk="0">
        <a:lnSpc>
          <a:spcPct val="100000"/>
        </a:lnSpc>
        <a:spcBef>
          <a:spcPts val="800"/>
        </a:spcBef>
        <a:spcAft>
          <a:spcPts val="0"/>
        </a:spcAft>
        <a:buClr>
          <a:srgbClr val="0095DA"/>
        </a:buClr>
        <a:buSzPct val="100000"/>
        <a:buFontTx/>
        <a:buChar char="•"/>
        <a:tabLst/>
        <a:defRPr sz="1600" b="0" i="0" u="none" strike="noStrike" cap="none" spc="0" baseline="0">
          <a:solidFill>
            <a:srgbClr val="000000"/>
          </a:solidFill>
          <a:uFillTx/>
          <a:latin typeface="Arial"/>
          <a:ea typeface="Arial"/>
          <a:cs typeface="Arial"/>
          <a:sym typeface="Arial"/>
        </a:defRPr>
      </a:lvl7pPr>
      <a:lvl8pPr marL="2583179" marR="0" indent="-182879" algn="l" defTabSz="685800" latinLnBrk="0">
        <a:lnSpc>
          <a:spcPct val="100000"/>
        </a:lnSpc>
        <a:spcBef>
          <a:spcPts val="800"/>
        </a:spcBef>
        <a:spcAft>
          <a:spcPts val="0"/>
        </a:spcAft>
        <a:buClr>
          <a:srgbClr val="0095DA"/>
        </a:buClr>
        <a:buSzPct val="100000"/>
        <a:buFontTx/>
        <a:buChar char="•"/>
        <a:tabLst/>
        <a:defRPr sz="1600" b="0" i="0" u="none" strike="noStrike" cap="none" spc="0" baseline="0">
          <a:solidFill>
            <a:srgbClr val="000000"/>
          </a:solidFill>
          <a:uFillTx/>
          <a:latin typeface="Arial"/>
          <a:ea typeface="Arial"/>
          <a:cs typeface="Arial"/>
          <a:sym typeface="Arial"/>
        </a:defRPr>
      </a:lvl8pPr>
      <a:lvl9pPr marL="2926079" marR="0" indent="-182879" algn="l" defTabSz="685800" latinLnBrk="0">
        <a:lnSpc>
          <a:spcPct val="100000"/>
        </a:lnSpc>
        <a:spcBef>
          <a:spcPts val="800"/>
        </a:spcBef>
        <a:spcAft>
          <a:spcPts val="0"/>
        </a:spcAft>
        <a:buClr>
          <a:srgbClr val="0095DA"/>
        </a:buClr>
        <a:buSzPct val="100000"/>
        <a:buFontTx/>
        <a:buChar char="•"/>
        <a:tabLst/>
        <a:defRPr sz="1600" b="0" i="0" u="none" strike="noStrike" cap="none" spc="0" baseline="0">
          <a:solidFill>
            <a:srgbClr val="000000"/>
          </a:solidFill>
          <a:uFillTx/>
          <a:latin typeface="Arial"/>
          <a:ea typeface="Arial"/>
          <a:cs typeface="Arial"/>
          <a:sym typeface="Arial"/>
        </a:defRPr>
      </a:lvl9pPr>
    </p:bodyStyle>
    <p:otherStyle>
      <a:lvl1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Footer Placeholder 4"/>
          <p:cNvSpPr txBox="1"/>
          <p:nvPr/>
        </p:nvSpPr>
        <p:spPr>
          <a:xfrm>
            <a:off x="3169919" y="4419316"/>
            <a:ext cx="2804162" cy="3389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lnSpc>
                <a:spcPct val="120000"/>
              </a:lnSpc>
              <a:defRPr sz="800">
                <a:solidFill>
                  <a:srgbClr val="888888"/>
                </a:solidFill>
                <a:latin typeface="Arial"/>
                <a:ea typeface="Arial"/>
                <a:cs typeface="Arial"/>
                <a:sym typeface="Arial"/>
              </a:defRPr>
            </a:lvl1pPr>
          </a:lstStyle>
          <a:p>
            <a:r>
              <a:t>© 2019-2026 TeamLogic, Inc. All rights reserved.                            Business Confidential</a:t>
            </a:r>
          </a:p>
        </p:txBody>
      </p:sp>
      <p:sp>
        <p:nvSpPr>
          <p:cNvPr id="137" name="Subtitle 2"/>
          <p:cNvSpPr txBox="1">
            <a:spLocks noGrp="1"/>
          </p:cNvSpPr>
          <p:nvPr>
            <p:ph type="subTitle" sz="quarter" idx="1"/>
          </p:nvPr>
        </p:nvSpPr>
        <p:spPr>
          <a:xfrm>
            <a:off x="1371599" y="1800956"/>
            <a:ext cx="6400801" cy="685801"/>
          </a:xfrm>
          <a:prstGeom prst="rect">
            <a:avLst/>
          </a:prstGeom>
        </p:spPr>
        <p:txBody>
          <a:bodyPr/>
          <a:lstStyle>
            <a:lvl1pPr>
              <a:defRPr sz="3600" spc="0"/>
            </a:lvl1pPr>
          </a:lstStyle>
          <a:p>
            <a:r>
              <a:t>Client Business Review</a:t>
            </a:r>
          </a:p>
        </p:txBody>
      </p:sp>
      <p:sp>
        <p:nvSpPr>
          <p:cNvPr id="138" name="Rectangle 3"/>
          <p:cNvSpPr txBox="1"/>
          <p:nvPr/>
        </p:nvSpPr>
        <p:spPr>
          <a:xfrm>
            <a:off x="1168227" y="730566"/>
            <a:ext cx="6709484" cy="3875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ctr">
              <a:defRPr sz="2100" i="1">
                <a:latin typeface="Arial"/>
                <a:ea typeface="Arial"/>
                <a:cs typeface="Arial"/>
                <a:sym typeface="Arial"/>
              </a:defRPr>
            </a:lvl1pPr>
          </a:lstStyle>
          <a:p>
            <a:r>
              <a:t>&lt;Client’s Name or Logo Here&gt;</a:t>
            </a:r>
          </a:p>
        </p:txBody>
      </p:sp>
      <p:pic>
        <p:nvPicPr>
          <p:cNvPr id="139" name="Picture Placeholder 9" descr="Picture Placeholder 9"/>
          <p:cNvPicPr>
            <a:picLocks noGrp="1" noChangeAspect="1"/>
          </p:cNvPicPr>
          <p:nvPr>
            <p:ph type="pic" idx="21"/>
          </p:nvPr>
        </p:nvPicPr>
        <p:blipFill>
          <a:blip r:embed="rId3"/>
          <a:stretch>
            <a:fillRect/>
          </a:stretch>
        </p:blipFill>
        <p:spPr>
          <a:prstGeom prst="rect">
            <a:avLst/>
          </a:prstGeom>
        </p:spPr>
      </p:pic>
      <p:sp>
        <p:nvSpPr>
          <p:cNvPr id="140" name="TextBox 1"/>
          <p:cNvSpPr txBox="1"/>
          <p:nvPr/>
        </p:nvSpPr>
        <p:spPr>
          <a:xfrm>
            <a:off x="2665296" y="2572135"/>
            <a:ext cx="4380170" cy="7443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spcBef>
                <a:spcPts val="1000"/>
              </a:spcBef>
              <a:defRPr>
                <a:latin typeface="Arial"/>
                <a:ea typeface="Arial"/>
                <a:cs typeface="Arial"/>
                <a:sym typeface="Arial"/>
              </a:defRPr>
            </a:pPr>
            <a:r>
              <a:t>Presented to:</a:t>
            </a:r>
          </a:p>
          <a:p>
            <a:pPr>
              <a:spcBef>
                <a:spcPts val="1000"/>
              </a:spcBef>
              <a:defRPr>
                <a:latin typeface="Arial"/>
                <a:ea typeface="Arial"/>
                <a:cs typeface="Arial"/>
                <a:sym typeface="Arial"/>
              </a:defRPr>
            </a:pPr>
            <a:r>
              <a:t>Presented by:</a:t>
            </a:r>
          </a:p>
        </p:txBody>
      </p:sp>
      <p:sp>
        <p:nvSpPr>
          <p:cNvPr id="141" name="TextBox 1"/>
          <p:cNvSpPr txBox="1"/>
          <p:nvPr/>
        </p:nvSpPr>
        <p:spPr>
          <a:xfrm>
            <a:off x="2514600" y="767646"/>
            <a:ext cx="4169665" cy="3506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ctr">
              <a:spcBef>
                <a:spcPts val="1000"/>
              </a:spcBef>
              <a:defRPr>
                <a:latin typeface="Arial"/>
                <a:ea typeface="Arial"/>
                <a:cs typeface="Arial"/>
                <a:sym typeface="Arial"/>
              </a:defRPr>
            </a:lvl1pPr>
          </a:lstStyle>
          <a:p>
            <a:r>
              <a:t>&lt;&lt;Client’s Name or Logo Here&gt;&gt;</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Title 1"/>
          <p:cNvSpPr txBox="1">
            <a:spLocks noGrp="1"/>
          </p:cNvSpPr>
          <p:nvPr>
            <p:ph type="title"/>
          </p:nvPr>
        </p:nvSpPr>
        <p:spPr>
          <a:prstGeom prst="rect">
            <a:avLst/>
          </a:prstGeom>
        </p:spPr>
        <p:txBody>
          <a:bodyPr/>
          <a:lstStyle/>
          <a:p>
            <a:pPr>
              <a:defRPr sz="4000"/>
            </a:pPr>
            <a:r>
              <a:t>Agenda</a:t>
            </a:r>
            <a:r>
              <a:rPr sz="3600"/>
              <a:t> </a:t>
            </a:r>
          </a:p>
        </p:txBody>
      </p:sp>
      <p:sp>
        <p:nvSpPr>
          <p:cNvPr id="146" name="Content Placeholder 2"/>
          <p:cNvSpPr txBox="1">
            <a:spLocks noGrp="1"/>
          </p:cNvSpPr>
          <p:nvPr>
            <p:ph type="body" idx="1"/>
          </p:nvPr>
        </p:nvSpPr>
        <p:spPr>
          <a:xfrm>
            <a:off x="457200" y="1198543"/>
            <a:ext cx="6028937" cy="3361332"/>
          </a:xfrm>
          <a:prstGeom prst="rect">
            <a:avLst/>
          </a:prstGeom>
        </p:spPr>
        <p:txBody>
          <a:bodyPr/>
          <a:lstStyle/>
          <a:p>
            <a:pPr>
              <a:buFont typeface="Wingdings" pitchFamily="2" charset="2"/>
              <a:buChar char="§"/>
            </a:pPr>
            <a:r>
              <a:t> Industry Trends</a:t>
            </a:r>
          </a:p>
          <a:p>
            <a:pPr>
              <a:buFont typeface="Wingdings" pitchFamily="2" charset="2"/>
              <a:buChar char="§"/>
            </a:pPr>
            <a:r>
              <a:t> Services Review </a:t>
            </a:r>
          </a:p>
          <a:p>
            <a:pPr>
              <a:buFont typeface="Wingdings" pitchFamily="2" charset="2"/>
              <a:buChar char="§"/>
            </a:pPr>
            <a:r>
              <a:t> Open Technical Items</a:t>
            </a:r>
          </a:p>
          <a:p>
            <a:pPr>
              <a:buFont typeface="Wingdings" pitchFamily="2" charset="2"/>
              <a:buChar char="§"/>
            </a:pPr>
            <a:r>
              <a:t> Strategic Initiatives</a:t>
            </a:r>
          </a:p>
          <a:p>
            <a:pPr>
              <a:buFont typeface="Wingdings" pitchFamily="2" charset="2"/>
              <a:buChar char="§"/>
            </a:pPr>
            <a:r>
              <a:t> Implementation Timeline</a:t>
            </a:r>
          </a:p>
          <a:p>
            <a:pPr lvl="1">
              <a:spcBef>
                <a:spcPts val="300"/>
              </a:spcBef>
              <a:buFont typeface="Wingdings" pitchFamily="2" charset="2"/>
              <a:buChar char="§"/>
              <a:defRPr sz="1400"/>
            </a:pPr>
            <a:r>
              <a:t>Budget Summary </a:t>
            </a:r>
          </a:p>
          <a:p>
            <a:pPr>
              <a:buFont typeface="Wingdings" pitchFamily="2" charset="2"/>
              <a:buChar char="§"/>
            </a:pPr>
            <a:r>
              <a:t> Reports </a:t>
            </a:r>
          </a:p>
          <a:p>
            <a:pPr lvl="1">
              <a:spcBef>
                <a:spcPts val="300"/>
              </a:spcBef>
              <a:buFont typeface="Wingdings" pitchFamily="2" charset="2"/>
              <a:buChar char="§"/>
              <a:defRPr sz="1400"/>
            </a:pPr>
            <a:r>
              <a:t>Management Summary Report of Technical Infrastructure</a:t>
            </a:r>
          </a:p>
          <a:p>
            <a:pPr lvl="1">
              <a:spcBef>
                <a:spcPts val="300"/>
              </a:spcBef>
              <a:buFont typeface="Wingdings" pitchFamily="2" charset="2"/>
              <a:buChar char="§"/>
              <a:defRPr sz="1400"/>
            </a:pPr>
            <a:r>
              <a:t>Completed Ticket Performance by Issue Type</a:t>
            </a:r>
          </a:p>
          <a:p>
            <a:pPr lvl="1">
              <a:spcBef>
                <a:spcPts val="300"/>
              </a:spcBef>
              <a:buFont typeface="Wingdings" pitchFamily="2" charset="2"/>
              <a:buChar char="§"/>
              <a:defRPr sz="1400"/>
            </a:pPr>
            <a:r>
              <a:t>Other applicable reports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itle 1"/>
          <p:cNvSpPr txBox="1">
            <a:spLocks noGrp="1"/>
          </p:cNvSpPr>
          <p:nvPr>
            <p:ph type="title"/>
          </p:nvPr>
        </p:nvSpPr>
        <p:spPr>
          <a:prstGeom prst="rect">
            <a:avLst/>
          </a:prstGeom>
        </p:spPr>
        <p:txBody>
          <a:bodyPr>
            <a:noAutofit/>
          </a:bodyPr>
          <a:lstStyle/>
          <a:p>
            <a:r>
              <a:t>Industry Trends</a:t>
            </a:r>
          </a:p>
        </p:txBody>
      </p:sp>
      <p:sp>
        <p:nvSpPr>
          <p:cNvPr id="149" name="Content Placeholder 2"/>
          <p:cNvSpPr txBox="1">
            <a:spLocks noGrp="1"/>
          </p:cNvSpPr>
          <p:nvPr>
            <p:ph type="body" idx="1"/>
          </p:nvPr>
        </p:nvSpPr>
        <p:spPr>
          <a:xfrm>
            <a:off x="554247" y="1069147"/>
            <a:ext cx="8229600" cy="3394472"/>
          </a:xfrm>
          <a:prstGeom prst="rect">
            <a:avLst/>
          </a:prstGeom>
        </p:spPr>
        <p:txBody>
          <a:bodyPr/>
          <a:lstStyle/>
          <a:p>
            <a:pPr>
              <a:buFont typeface="Wingdings" pitchFamily="2" charset="2"/>
              <a:buChar char="§"/>
              <a:defRPr>
                <a:solidFill>
                  <a:srgbClr val="FF0000"/>
                </a:solidFill>
              </a:defRPr>
            </a:pPr>
            <a:r>
              <a:t>Add technology trends that are applicable to the customer’s industry and how that impacts their use of your managed IT services solution…</a:t>
            </a:r>
          </a:p>
          <a:p>
            <a:pPr lvl="1">
              <a:buFont typeface="Wingdings" pitchFamily="2" charset="2"/>
              <a:buChar char="§"/>
              <a:defRPr sz="1400">
                <a:solidFill>
                  <a:srgbClr val="FF0000"/>
                </a:solidFill>
              </a:defRPr>
            </a:pPr>
            <a:r>
              <a:t>Consider using ChatGPT or MS Copilot to conduct research to help populate this slide. </a:t>
            </a:r>
          </a:p>
          <a:p>
            <a:pPr lvl="1">
              <a:buFont typeface="Wingdings" pitchFamily="2" charset="2"/>
              <a:buChar char="§"/>
              <a:defRPr sz="1400">
                <a:solidFill>
                  <a:srgbClr val="FF0000"/>
                </a:solidFill>
              </a:defRPr>
            </a:pPr>
            <a:r>
              <a:t>Topics may include Shadow AI, MDR, insurance requirements, compliance updates, end of life/support for industry specific SaaS and tools.  </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itle 1"/>
          <p:cNvSpPr txBox="1">
            <a:spLocks noGrp="1"/>
          </p:cNvSpPr>
          <p:nvPr>
            <p:ph type="title"/>
          </p:nvPr>
        </p:nvSpPr>
        <p:spPr>
          <a:xfrm>
            <a:off x="457200" y="1698944"/>
            <a:ext cx="8229601" cy="1292622"/>
          </a:xfrm>
          <a:prstGeom prst="rect">
            <a:avLst/>
          </a:prstGeom>
        </p:spPr>
        <p:txBody>
          <a:bodyPr/>
          <a:lstStyle>
            <a:lvl1pPr>
              <a:lnSpc>
                <a:spcPct val="90000"/>
              </a:lnSpc>
              <a:spcBef>
                <a:spcPts val="1100"/>
              </a:spcBef>
              <a:defRPr sz="4800"/>
            </a:lvl1pPr>
          </a:lstStyle>
          <a:p>
            <a:r>
              <a:t>Service Review</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itle 1"/>
          <p:cNvSpPr txBox="1">
            <a:spLocks noGrp="1"/>
          </p:cNvSpPr>
          <p:nvPr>
            <p:ph type="title"/>
          </p:nvPr>
        </p:nvSpPr>
        <p:spPr>
          <a:prstGeom prst="rect">
            <a:avLst/>
          </a:prstGeom>
        </p:spPr>
        <p:txBody>
          <a:bodyPr>
            <a:noAutofit/>
          </a:bodyPr>
          <a:lstStyle/>
          <a:p>
            <a:r>
              <a:t>Current Management and Maintenance</a:t>
            </a:r>
          </a:p>
        </p:txBody>
      </p:sp>
      <p:sp>
        <p:nvSpPr>
          <p:cNvPr id="156" name="Content Placeholder 2"/>
          <p:cNvSpPr txBox="1">
            <a:spLocks noGrp="1"/>
          </p:cNvSpPr>
          <p:nvPr>
            <p:ph type="body" idx="1"/>
          </p:nvPr>
        </p:nvSpPr>
        <p:spPr>
          <a:xfrm>
            <a:off x="457200" y="1200151"/>
            <a:ext cx="8229600" cy="3394472"/>
          </a:xfrm>
          <a:prstGeom prst="rect">
            <a:avLst/>
          </a:prstGeom>
        </p:spPr>
        <p:txBody>
          <a:bodyPr>
            <a:normAutofit lnSpcReduction="10000"/>
          </a:bodyPr>
          <a:lstStyle/>
          <a:p>
            <a:pPr defTabSz="672084">
              <a:spcBef>
                <a:spcPts val="700"/>
              </a:spcBef>
              <a:buFont typeface="Wingdings" pitchFamily="2" charset="2"/>
              <a:buChar char="§"/>
              <a:defRPr sz="1568">
                <a:solidFill>
                  <a:srgbClr val="FF0000"/>
                </a:solidFill>
              </a:defRPr>
            </a:pPr>
            <a:r>
              <a:t>XX</a:t>
            </a:r>
            <a:r>
              <a:rPr>
                <a:solidFill>
                  <a:srgbClr val="000000"/>
                </a:solidFill>
              </a:rPr>
              <a:t> Workstations and Laptops</a:t>
            </a:r>
          </a:p>
          <a:p>
            <a:pPr defTabSz="672084">
              <a:spcBef>
                <a:spcPts val="700"/>
              </a:spcBef>
              <a:buFont typeface="Wingdings" pitchFamily="2" charset="2"/>
              <a:buChar char="§"/>
              <a:defRPr sz="1568">
                <a:solidFill>
                  <a:srgbClr val="FF0000"/>
                </a:solidFill>
              </a:defRPr>
            </a:pPr>
            <a:r>
              <a:t>XX</a:t>
            </a:r>
            <a:r>
              <a:rPr>
                <a:solidFill>
                  <a:srgbClr val="000000"/>
                </a:solidFill>
              </a:rPr>
              <a:t> Physical Servers</a:t>
            </a:r>
          </a:p>
          <a:p>
            <a:pPr defTabSz="672084">
              <a:spcBef>
                <a:spcPts val="700"/>
              </a:spcBef>
              <a:buFont typeface="Wingdings" pitchFamily="2" charset="2"/>
              <a:buChar char="§"/>
              <a:defRPr sz="1568">
                <a:solidFill>
                  <a:srgbClr val="FF0000"/>
                </a:solidFill>
              </a:defRPr>
            </a:pPr>
            <a:r>
              <a:t>XX</a:t>
            </a:r>
            <a:r>
              <a:rPr>
                <a:solidFill>
                  <a:srgbClr val="000000"/>
                </a:solidFill>
              </a:rPr>
              <a:t> Virtual Servers </a:t>
            </a:r>
          </a:p>
          <a:p>
            <a:pPr defTabSz="672084">
              <a:spcBef>
                <a:spcPts val="700"/>
              </a:spcBef>
              <a:buFont typeface="Wingdings" pitchFamily="2" charset="2"/>
              <a:buChar char="§"/>
              <a:defRPr sz="1568">
                <a:solidFill>
                  <a:srgbClr val="FF0000"/>
                </a:solidFill>
              </a:defRPr>
            </a:pPr>
            <a:r>
              <a:t>XX</a:t>
            </a:r>
            <a:r>
              <a:rPr>
                <a:solidFill>
                  <a:srgbClr val="000000"/>
                </a:solidFill>
              </a:rPr>
              <a:t> Location(s)</a:t>
            </a:r>
          </a:p>
          <a:p>
            <a:pPr defTabSz="672084">
              <a:spcBef>
                <a:spcPts val="700"/>
              </a:spcBef>
              <a:buFont typeface="Wingdings" pitchFamily="2" charset="2"/>
              <a:buChar char="§"/>
              <a:defRPr sz="1568">
                <a:solidFill>
                  <a:srgbClr val="FF0000"/>
                </a:solidFill>
              </a:defRPr>
            </a:pPr>
            <a:r>
              <a:t>XX</a:t>
            </a:r>
            <a:r>
              <a:rPr>
                <a:solidFill>
                  <a:srgbClr val="000000"/>
                </a:solidFill>
              </a:rPr>
              <a:t> Users</a:t>
            </a:r>
          </a:p>
          <a:p>
            <a:pPr marL="186690" indent="-186690" defTabSz="672084">
              <a:spcBef>
                <a:spcPts val="700"/>
              </a:spcBef>
              <a:defRPr sz="1568"/>
            </a:pPr>
            <a:endParaRPr>
              <a:solidFill>
                <a:srgbClr val="000000"/>
              </a:solidFill>
            </a:endParaRPr>
          </a:p>
          <a:p>
            <a:pPr marL="0" indent="0" defTabSz="672084">
              <a:spcBef>
                <a:spcPts val="700"/>
              </a:spcBef>
              <a:buSzTx/>
              <a:buFont typeface="Wingdings"/>
              <a:buNone/>
              <a:defRPr sz="1568"/>
            </a:pPr>
            <a:r>
              <a:t>Based on a technical review of the last </a:t>
            </a:r>
            <a:r>
              <a:rPr>
                <a:solidFill>
                  <a:srgbClr val="FF0000"/>
                </a:solidFill>
              </a:rPr>
              <a:t>six</a:t>
            </a:r>
            <a:r>
              <a:t> months, all segments of </a:t>
            </a:r>
            <a:r>
              <a:rPr err="1"/>
              <a:t>TeamLogic</a:t>
            </a:r>
            <a:r>
              <a:t> IT services offering have been </a:t>
            </a:r>
            <a:r>
              <a:rPr>
                <a:solidFill>
                  <a:srgbClr val="FF0000"/>
                </a:solidFill>
              </a:rPr>
              <a:t>{insert your opinion}</a:t>
            </a:r>
            <a:r>
              <a:t>.</a:t>
            </a:r>
            <a:r>
              <a:rPr>
                <a:solidFill>
                  <a:srgbClr val="FF0000"/>
                </a:solidFill>
              </a:rPr>
              <a:t> </a:t>
            </a:r>
          </a:p>
          <a:p>
            <a:pPr marL="0" indent="0" defTabSz="672084">
              <a:spcBef>
                <a:spcPts val="700"/>
              </a:spcBef>
              <a:buSzTx/>
              <a:buFont typeface="Wingdings"/>
              <a:buNone/>
              <a:defRPr sz="1568"/>
            </a:pPr>
            <a:endParaRPr>
              <a:solidFill>
                <a:srgbClr val="FF0000"/>
              </a:solidFill>
            </a:endParaRPr>
          </a:p>
          <a:p>
            <a:pPr marL="0" indent="0" defTabSz="672084">
              <a:spcBef>
                <a:spcPts val="700"/>
              </a:spcBef>
              <a:buSzTx/>
              <a:buFont typeface="Wingdings"/>
              <a:buNone/>
              <a:defRPr sz="1568"/>
            </a:pPr>
            <a:r>
              <a:rPr err="1"/>
              <a:t>TeamLogic</a:t>
            </a:r>
            <a:r>
              <a:t> IT reports show improvements in the areas of </a:t>
            </a:r>
            <a:r>
              <a:rPr>
                <a:solidFill>
                  <a:srgbClr val="FF0000"/>
                </a:solidFill>
              </a:rPr>
              <a:t>endpoint management, infrastructure management, and network security.</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Observations…"/>
          <p:cNvSpPr txBox="1">
            <a:spLocks noGrp="1"/>
          </p:cNvSpPr>
          <p:nvPr>
            <p:ph type="body" sz="quarter" idx="1"/>
          </p:nvPr>
        </p:nvSpPr>
        <p:spPr>
          <a:xfrm>
            <a:off x="3736309" y="366845"/>
            <a:ext cx="5230118" cy="1053572"/>
          </a:xfrm>
          <a:prstGeom prst="rect">
            <a:avLst/>
          </a:prstGeom>
        </p:spPr>
        <p:txBody>
          <a:bodyPr>
            <a:normAutofit lnSpcReduction="10000"/>
          </a:bodyPr>
          <a:lstStyle/>
          <a:p>
            <a:pPr marL="0" indent="0" defTabSz="868680">
              <a:lnSpc>
                <a:spcPct val="81000"/>
              </a:lnSpc>
              <a:spcBef>
                <a:spcPts val="200"/>
              </a:spcBef>
              <a:buClrTx/>
              <a:buSzTx/>
              <a:buNone/>
              <a:defRPr sz="1140" b="1"/>
            </a:pPr>
            <a:r>
              <a:t>Observations</a:t>
            </a:r>
          </a:p>
          <a:p>
            <a:pPr defTabSz="651509">
              <a:spcBef>
                <a:spcPts val="700"/>
              </a:spcBef>
              <a:buFont typeface="Wingdings" pitchFamily="2" charset="2"/>
              <a:buChar char="§"/>
              <a:defRPr sz="950">
                <a:solidFill>
                  <a:srgbClr val="FF0000"/>
                </a:solidFill>
              </a:defRPr>
            </a:pPr>
            <a:r>
              <a:t>Your “talk track” here (i.e., recent increase of password reset requests: recommend password manager) </a:t>
            </a:r>
          </a:p>
          <a:p>
            <a:pPr defTabSz="651509">
              <a:spcBef>
                <a:spcPts val="700"/>
              </a:spcBef>
              <a:buFont typeface="Wingdings" pitchFamily="2" charset="2"/>
              <a:buChar char="§"/>
              <a:defRPr sz="950">
                <a:solidFill>
                  <a:srgbClr val="FF0000"/>
                </a:solidFill>
              </a:defRPr>
            </a:pPr>
            <a:r>
              <a:t>Your “talk track” here (i.e.,  recent increase of cyber threats blocked: recommend MDR) </a:t>
            </a:r>
          </a:p>
          <a:p>
            <a:pPr defTabSz="651509">
              <a:spcBef>
                <a:spcPts val="700"/>
              </a:spcBef>
              <a:buFont typeface="Wingdings" pitchFamily="2" charset="2"/>
              <a:buChar char="§"/>
              <a:defRPr sz="950">
                <a:solidFill>
                  <a:srgbClr val="FF0000"/>
                </a:solidFill>
              </a:defRPr>
            </a:pPr>
            <a:r>
              <a:t>Your “talk track” here (i.e., office connectivity issues: recommend Wi-Fi or VPN solution) </a:t>
            </a:r>
          </a:p>
        </p:txBody>
      </p:sp>
      <p:pic>
        <p:nvPicPr>
          <p:cNvPr id="159" name="Picture 2" descr="Picture 2"/>
          <p:cNvPicPr>
            <a:picLocks noChangeAspect="1"/>
          </p:cNvPicPr>
          <p:nvPr/>
        </p:nvPicPr>
        <p:blipFill>
          <a:blip r:embed="rId3"/>
          <a:stretch>
            <a:fillRect/>
          </a:stretch>
        </p:blipFill>
        <p:spPr>
          <a:xfrm>
            <a:off x="618828" y="1420417"/>
            <a:ext cx="7906344" cy="3342151"/>
          </a:xfrm>
          <a:prstGeom prst="rect">
            <a:avLst/>
          </a:prstGeom>
          <a:ln w="12700">
            <a:miter lim="400000"/>
          </a:ln>
          <a:effectLst>
            <a:outerShdw blurRad="50800" rotWithShape="0">
              <a:srgbClr val="000000">
                <a:alpha val="40000"/>
              </a:srgbClr>
            </a:outerShdw>
          </a:effectLst>
        </p:spPr>
      </p:pic>
      <p:sp>
        <p:nvSpPr>
          <p:cNvPr id="160" name="Title 1"/>
          <p:cNvSpPr txBox="1"/>
          <p:nvPr/>
        </p:nvSpPr>
        <p:spPr>
          <a:xfrm>
            <a:off x="554658" y="196662"/>
            <a:ext cx="3181651" cy="987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1pPr defTabSz="685800">
              <a:defRPr sz="2700">
                <a:solidFill>
                  <a:srgbClr val="8BAE6C"/>
                </a:solidFill>
                <a:latin typeface="Arial"/>
                <a:ea typeface="Arial"/>
                <a:cs typeface="Arial"/>
                <a:sym typeface="Arial"/>
              </a:defRPr>
            </a:lvl1pPr>
          </a:lstStyle>
          <a:p>
            <a:r>
              <a:t>Customer Success Dashboard</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itle 1"/>
          <p:cNvSpPr txBox="1">
            <a:spLocks noGrp="1"/>
          </p:cNvSpPr>
          <p:nvPr>
            <p:ph type="title"/>
          </p:nvPr>
        </p:nvSpPr>
        <p:spPr>
          <a:xfrm>
            <a:off x="457386" y="319922"/>
            <a:ext cx="8229601" cy="1154147"/>
          </a:xfrm>
          <a:prstGeom prst="rect">
            <a:avLst/>
          </a:prstGeom>
        </p:spPr>
        <p:txBody>
          <a:bodyPr>
            <a:noAutofit/>
          </a:bodyPr>
          <a:lstStyle/>
          <a:p>
            <a:pPr>
              <a:defRPr sz="3400"/>
            </a:pPr>
            <a:r>
              <a:t>Management Summary Report</a:t>
            </a:r>
            <a:br/>
            <a:r>
              <a:t>Key Takeaways </a:t>
            </a:r>
          </a:p>
        </p:txBody>
      </p:sp>
      <p:graphicFrame>
        <p:nvGraphicFramePr>
          <p:cNvPr id="165" name="Content Placeholder 4"/>
          <p:cNvGraphicFramePr/>
          <p:nvPr>
            <p:extLst>
              <p:ext uri="{D42A27DB-BD31-4B8C-83A1-F6EECF244321}">
                <p14:modId xmlns:p14="http://schemas.microsoft.com/office/powerpoint/2010/main" val="912155746"/>
              </p:ext>
            </p:extLst>
          </p:nvPr>
        </p:nvGraphicFramePr>
        <p:xfrm>
          <a:off x="504187" y="1537390"/>
          <a:ext cx="8135622" cy="3350160"/>
        </p:xfrm>
        <a:graphic>
          <a:graphicData uri="http://schemas.openxmlformats.org/drawingml/2006/table">
            <a:tbl>
              <a:tblPr bandRow="1">
                <a:tableStyleId>{4C3C2611-4C71-4FC5-86AE-919BDF0F9419}</a:tableStyleId>
              </a:tblPr>
              <a:tblGrid>
                <a:gridCol w="2157703">
                  <a:extLst>
                    <a:ext uri="{9D8B030D-6E8A-4147-A177-3AD203B41FA5}">
                      <a16:colId xmlns:a16="http://schemas.microsoft.com/office/drawing/2014/main" val="20000"/>
                    </a:ext>
                  </a:extLst>
                </a:gridCol>
                <a:gridCol w="5977919">
                  <a:extLst>
                    <a:ext uri="{9D8B030D-6E8A-4147-A177-3AD203B41FA5}">
                      <a16:colId xmlns:a16="http://schemas.microsoft.com/office/drawing/2014/main" val="20001"/>
                    </a:ext>
                  </a:extLst>
                </a:gridCol>
              </a:tblGrid>
              <a:tr h="851418">
                <a:tc>
                  <a:txBody>
                    <a:bodyPr/>
                    <a:lstStyle/>
                    <a:p>
                      <a:pPr algn="ctr" defTabSz="685800">
                        <a:defRPr sz="1800"/>
                      </a:pPr>
                      <a:r>
                        <a:rPr b="1">
                          <a:solidFill>
                            <a:srgbClr val="0095DA"/>
                          </a:solidFill>
                          <a:latin typeface="Arial"/>
                          <a:ea typeface="Arial"/>
                          <a:cs typeface="Arial"/>
                          <a:sym typeface="Arial"/>
                        </a:rPr>
                        <a:t>1</a:t>
                      </a:r>
                    </a:p>
                  </a:txBody>
                  <a:tcPr marL="101160" marR="101160" marT="101160" marB="101160" horzOverflow="overflow">
                    <a:lnL w="12700">
                      <a:miter lim="400000"/>
                    </a:lnL>
                    <a:lnR w="12700">
                      <a:miter lim="400000"/>
                    </a:lnR>
                    <a:lnT w="12700">
                      <a:miter lim="400000"/>
                    </a:lnT>
                    <a:lnB w="12700">
                      <a:miter lim="400000"/>
                    </a:lnB>
                    <a:noFill/>
                  </a:tcPr>
                </a:tc>
                <a:tc>
                  <a:txBody>
                    <a:bodyPr/>
                    <a:lstStyle/>
                    <a:p>
                      <a:pPr algn="l" defTabSz="685800">
                        <a:defRPr sz="1200" b="1">
                          <a:solidFill>
                            <a:srgbClr val="FF0000"/>
                          </a:solidFill>
                          <a:latin typeface="Arial"/>
                          <a:ea typeface="Arial"/>
                          <a:cs typeface="Arial"/>
                          <a:sym typeface="Arial"/>
                        </a:defRPr>
                      </a:pPr>
                      <a:r>
                        <a:rPr dirty="0"/>
                        <a:t>Overall IT Health Is Strong — Core Controls Are Working</a:t>
                      </a:r>
                      <a:br>
                        <a:rPr dirty="0"/>
                      </a:br>
                      <a:r>
                        <a:rPr b="0" dirty="0"/>
                        <a:t>Overall environment health score: 98%, indicating a well-managed and stable IT. Patch coverage and antivirus protection are both at 100%, eliminating two of the most common vectors for cyber incidents. Server availability is 100%, demonstrating high reliability for critical systems.</a:t>
                      </a:r>
                    </a:p>
                  </a:txBody>
                  <a:tcPr marL="101160" marR="101160" marT="101160" marB="101160" anchor="ctr" horzOverflow="overflow">
                    <a:lnL w="12700">
                      <a:miter lim="400000"/>
                    </a:lnL>
                    <a:lnR w="12700">
                      <a:miter lim="400000"/>
                    </a:lnR>
                    <a:lnT w="12700">
                      <a:miter lim="400000"/>
                    </a:lnT>
                    <a:lnB w="12700">
                      <a:miter lim="400000"/>
                    </a:lnB>
                    <a:noFill/>
                  </a:tcPr>
                </a:tc>
                <a:extLst>
                  <a:ext uri="{0D108BD9-81ED-4DB2-BD59-A6C34878D82A}">
                    <a16:rowId xmlns:a16="http://schemas.microsoft.com/office/drawing/2014/main" val="10000"/>
                  </a:ext>
                </a:extLst>
              </a:tr>
              <a:tr h="678895">
                <a:tc>
                  <a:txBody>
                    <a:bodyPr/>
                    <a:lstStyle/>
                    <a:p>
                      <a:pPr algn="ctr" defTabSz="685800">
                        <a:defRPr sz="1800"/>
                      </a:pPr>
                      <a:r>
                        <a:rPr b="1">
                          <a:solidFill>
                            <a:srgbClr val="0095DA"/>
                          </a:solidFill>
                          <a:latin typeface="Arial"/>
                          <a:ea typeface="Arial"/>
                          <a:cs typeface="Arial"/>
                          <a:sym typeface="Arial"/>
                        </a:rPr>
                        <a:t>2</a:t>
                      </a:r>
                    </a:p>
                  </a:txBody>
                  <a:tcPr marL="101160" marR="101160" marT="101160" marB="101160" horzOverflow="overflow">
                    <a:lnL w="12700">
                      <a:miter lim="400000"/>
                    </a:lnL>
                    <a:lnR w="12700">
                      <a:miter lim="400000"/>
                    </a:lnR>
                    <a:lnT w="12700">
                      <a:miter lim="400000"/>
                    </a:lnT>
                    <a:lnB w="12700">
                      <a:miter lim="400000"/>
                    </a:lnB>
                    <a:noFill/>
                  </a:tcPr>
                </a:tc>
                <a:tc>
                  <a:txBody>
                    <a:bodyPr/>
                    <a:lstStyle/>
                    <a:p>
                      <a:pPr algn="l" defTabSz="685800">
                        <a:defRPr sz="1200" b="1">
                          <a:solidFill>
                            <a:srgbClr val="FF0000"/>
                          </a:solidFill>
                          <a:latin typeface="Arial"/>
                          <a:ea typeface="Arial"/>
                          <a:cs typeface="Arial"/>
                          <a:sym typeface="Arial"/>
                        </a:defRPr>
                      </a:pPr>
                      <a:r>
                        <a:rPr dirty="0"/>
                        <a:t>Security Posture Is Solid, but Encryption Gaps Create Avoidable Risk</a:t>
                      </a:r>
                      <a:br>
                        <a:rPr dirty="0"/>
                      </a:br>
                      <a:r>
                        <a:rPr b="0" dirty="0"/>
                        <a:t>Endpoint encryption is strong on laptops (41 of 47) but inconsistent on desktops (3 of 5) and absent on core Windows servers (0 of 3). You’re well protected against external threats, but internal data protection—especially on servers—is the next maturity step. Closing these gaps reduces exposure in the event of device loss, breach, or audit.</a:t>
                      </a:r>
                    </a:p>
                  </a:txBody>
                  <a:tcPr marL="101160" marR="101160" marT="101160" marB="101160" anchor="ctr" horzOverflow="overflow">
                    <a:lnL w="12700">
                      <a:miter lim="400000"/>
                    </a:lnL>
                    <a:lnR w="12700">
                      <a:miter lim="400000"/>
                    </a:lnR>
                    <a:lnT w="12700">
                      <a:miter lim="400000"/>
                    </a:lnT>
                    <a:lnB w="12700">
                      <a:miter lim="400000"/>
                    </a:lnB>
                    <a:noFill/>
                  </a:tcPr>
                </a:tc>
                <a:extLst>
                  <a:ext uri="{0D108BD9-81ED-4DB2-BD59-A6C34878D82A}">
                    <a16:rowId xmlns:a16="http://schemas.microsoft.com/office/drawing/2014/main" val="10001"/>
                  </a:ext>
                </a:extLst>
              </a:tr>
              <a:tr h="678895">
                <a:tc>
                  <a:txBody>
                    <a:bodyPr/>
                    <a:lstStyle/>
                    <a:p>
                      <a:pPr algn="ctr" defTabSz="685800">
                        <a:defRPr sz="1800"/>
                      </a:pPr>
                      <a:r>
                        <a:rPr b="1">
                          <a:solidFill>
                            <a:srgbClr val="0095DA"/>
                          </a:solidFill>
                          <a:latin typeface="Arial"/>
                          <a:ea typeface="Arial"/>
                          <a:cs typeface="Arial"/>
                          <a:sym typeface="Arial"/>
                        </a:rPr>
                        <a:t>3</a:t>
                      </a:r>
                    </a:p>
                  </a:txBody>
                  <a:tcPr marL="101160" marR="101160" marT="101160" marB="101160" horzOverflow="overflow">
                    <a:lnL w="12700">
                      <a:miter lim="400000"/>
                    </a:lnL>
                    <a:lnR w="12700">
                      <a:miter lim="400000"/>
                    </a:lnR>
                    <a:lnT w="12700">
                      <a:miter lim="400000"/>
                    </a:lnT>
                    <a:lnB w="12700">
                      <a:miter lim="400000"/>
                    </a:lnB>
                    <a:noFill/>
                  </a:tcPr>
                </a:tc>
                <a:tc>
                  <a:txBody>
                    <a:bodyPr/>
                    <a:lstStyle/>
                    <a:p>
                      <a:pPr algn="l" defTabSz="685800">
                        <a:defRPr sz="1200" b="1">
                          <a:solidFill>
                            <a:srgbClr val="FF0000"/>
                          </a:solidFill>
                          <a:latin typeface="Arial"/>
                          <a:ea typeface="Arial"/>
                          <a:cs typeface="Arial"/>
                          <a:sym typeface="Arial"/>
                        </a:defRPr>
                      </a:pPr>
                      <a:r>
                        <a:rPr dirty="0"/>
                        <a:t>Proactive Management Is Reducing Noise — Now It’s Time to Optimize</a:t>
                      </a:r>
                      <a:br>
                        <a:rPr dirty="0"/>
                      </a:br>
                      <a:r>
                        <a:rPr b="0" dirty="0"/>
                        <a:t>The environment is stable, not </a:t>
                      </a:r>
                      <a:r>
                        <a:rPr b="0" dirty="0">
                          <a:highlight>
                            <a:srgbClr val="FFFF00"/>
                          </a:highlight>
                        </a:rPr>
                        <a:t>stagnant</a:t>
                      </a:r>
                      <a:r>
                        <a:rPr b="0" dirty="0"/>
                        <a:t>. Automation is keeping things clean, but targeted optimization—storage management and alert tuning—will prevent future disruptions and improve user experience.</a:t>
                      </a:r>
                    </a:p>
                  </a:txBody>
                  <a:tcPr marL="101160" marR="101160" marT="101160" marB="101160" anchor="ctr" horzOverflow="overflow">
                    <a:lnL w="12700">
                      <a:miter lim="400000"/>
                    </a:lnL>
                    <a:lnR w="12700">
                      <a:miter lim="400000"/>
                    </a:lnR>
                    <a:lnT w="12700">
                      <a:miter lim="400000"/>
                    </a:lnT>
                    <a:lnB w="12700">
                      <a:miter lim="400000"/>
                    </a:lnB>
                    <a:no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itle 1"/>
          <p:cNvSpPr txBox="1">
            <a:spLocks noGrp="1"/>
          </p:cNvSpPr>
          <p:nvPr>
            <p:ph type="title"/>
          </p:nvPr>
        </p:nvSpPr>
        <p:spPr>
          <a:prstGeom prst="rect">
            <a:avLst/>
          </a:prstGeom>
        </p:spPr>
        <p:txBody>
          <a:bodyPr/>
          <a:lstStyle/>
          <a:p>
            <a:r>
              <a:t>Recent Accomplishments</a:t>
            </a:r>
          </a:p>
        </p:txBody>
      </p:sp>
      <p:sp>
        <p:nvSpPr>
          <p:cNvPr id="170" name="Content Placeholder 2"/>
          <p:cNvSpPr txBox="1">
            <a:spLocks noGrp="1"/>
          </p:cNvSpPr>
          <p:nvPr>
            <p:ph type="body" idx="1"/>
          </p:nvPr>
        </p:nvSpPr>
        <p:spPr>
          <a:xfrm>
            <a:off x="457200" y="1200151"/>
            <a:ext cx="8229600" cy="3394472"/>
          </a:xfrm>
          <a:prstGeom prst="rect">
            <a:avLst/>
          </a:prstGeom>
        </p:spPr>
        <p:txBody>
          <a:bodyPr/>
          <a:lstStyle>
            <a:lvl1pPr>
              <a:defRPr>
                <a:solidFill>
                  <a:srgbClr val="FF0000"/>
                </a:solidFill>
              </a:defRPr>
            </a:lvl1pPr>
          </a:lstStyle>
          <a:p>
            <a:pPr>
              <a:buFont typeface="Wingdings" pitchFamily="2" charset="2"/>
              <a:buChar char="§"/>
            </a:pPr>
            <a:r>
              <a:t>List recent accomplishments with details to describe how this benefited the client and their use of technology to improve their business. </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Why We’re Different"/>
          <p:cNvSpPr txBox="1">
            <a:spLocks noGrp="1"/>
          </p:cNvSpPr>
          <p:nvPr>
            <p:ph type="title" idx="4294967295"/>
          </p:nvPr>
        </p:nvSpPr>
        <p:spPr>
          <a:xfrm>
            <a:off x="457200" y="262732"/>
            <a:ext cx="8229600" cy="800498"/>
          </a:xfrm>
          <a:prstGeom prst="rect">
            <a:avLst/>
          </a:prstGeom>
        </p:spPr>
        <p:txBody>
          <a:bodyPr lIns="45718" tIns="45718" rIns="45718" bIns="45718"/>
          <a:lstStyle>
            <a:lvl1pPr>
              <a:defRPr>
                <a:solidFill>
                  <a:srgbClr val="A1C464"/>
                </a:solidFill>
              </a:defRPr>
            </a:lvl1pPr>
          </a:lstStyle>
          <a:p>
            <a:r>
              <a:t>CX Metrics</a:t>
            </a:r>
          </a:p>
        </p:txBody>
      </p:sp>
      <p:sp>
        <p:nvSpPr>
          <p:cNvPr id="173" name="Star"/>
          <p:cNvSpPr/>
          <p:nvPr/>
        </p:nvSpPr>
        <p:spPr>
          <a:xfrm>
            <a:off x="2077901" y="2931586"/>
            <a:ext cx="389898" cy="370816"/>
          </a:xfrm>
          <a:prstGeom prst="star5">
            <a:avLst>
              <a:gd name="adj" fmla="val 19100"/>
              <a:gd name="hf" fmla="val 105146"/>
              <a:gd name="vf" fmla="val 110557"/>
            </a:avLst>
          </a:prstGeom>
          <a:solidFill>
            <a:srgbClr val="94BB62"/>
          </a:solidFill>
          <a:ln w="3175">
            <a:solidFill>
              <a:srgbClr val="94BB62"/>
            </a:solidFill>
          </a:ln>
        </p:spPr>
        <p:txBody>
          <a:bodyPr lIns="45719" rIns="45719" anchor="ctr"/>
          <a:lstStyle/>
          <a:p>
            <a:pPr marR="21431" defTabSz="482202">
              <a:defRPr sz="600">
                <a:solidFill>
                  <a:srgbClr val="94BB62"/>
                </a:solidFill>
                <a:uFill>
                  <a:solidFill>
                    <a:srgbClr val="000000"/>
                  </a:solidFill>
                </a:uFill>
                <a:latin typeface="Gill Sans"/>
                <a:ea typeface="Gill Sans"/>
                <a:cs typeface="Gill Sans"/>
                <a:sym typeface="Gill Sans"/>
              </a:defRPr>
            </a:pPr>
            <a:endParaRPr/>
          </a:p>
        </p:txBody>
      </p:sp>
      <p:sp>
        <p:nvSpPr>
          <p:cNvPr id="174" name="Title 1"/>
          <p:cNvSpPr txBox="1"/>
          <p:nvPr/>
        </p:nvSpPr>
        <p:spPr>
          <a:xfrm>
            <a:off x="1045901" y="2395327"/>
            <a:ext cx="914129" cy="6852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tIns="34289" rIns="34289" bIns="34289" anchor="ctr">
            <a:spAutoFit/>
          </a:bodyPr>
          <a:lstStyle>
            <a:lvl1pPr algn="ctr" defTabSz="685800">
              <a:defRPr sz="4400" b="1" spc="-224">
                <a:solidFill>
                  <a:srgbClr val="0095DA"/>
                </a:solidFill>
                <a:latin typeface="Arial"/>
                <a:ea typeface="Arial"/>
                <a:cs typeface="Arial"/>
                <a:sym typeface="Arial"/>
              </a:defRPr>
            </a:lvl1pPr>
          </a:lstStyle>
          <a:p>
            <a:r>
              <a:t>88</a:t>
            </a:r>
          </a:p>
        </p:txBody>
      </p:sp>
      <p:sp>
        <p:nvSpPr>
          <p:cNvPr id="175" name="Title 1"/>
          <p:cNvSpPr txBox="1"/>
          <p:nvPr/>
        </p:nvSpPr>
        <p:spPr>
          <a:xfrm>
            <a:off x="912398" y="3453055"/>
            <a:ext cx="1173813" cy="6328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tIns="34289" rIns="34289" bIns="34289">
            <a:spAutoFit/>
          </a:bodyPr>
          <a:lstStyle/>
          <a:p>
            <a:pPr lvl="2" indent="0" algn="ctr" defTabSz="685800">
              <a:lnSpc>
                <a:spcPct val="90000"/>
              </a:lnSpc>
              <a:defRPr sz="1400" b="1">
                <a:solidFill>
                  <a:srgbClr val="018752"/>
                </a:solidFill>
                <a:latin typeface="Arial"/>
                <a:ea typeface="Arial"/>
                <a:cs typeface="Arial"/>
                <a:sym typeface="Arial"/>
              </a:defRPr>
            </a:pPr>
            <a:r>
              <a:t>Customer Satisfaction</a:t>
            </a:r>
          </a:p>
          <a:p>
            <a:pPr lvl="2" indent="0" algn="ctr" defTabSz="685800">
              <a:lnSpc>
                <a:spcPct val="90000"/>
              </a:lnSpc>
              <a:defRPr sz="1400">
                <a:solidFill>
                  <a:srgbClr val="018752"/>
                </a:solidFill>
                <a:latin typeface="Arial"/>
                <a:ea typeface="Arial"/>
                <a:cs typeface="Arial"/>
                <a:sym typeface="Arial"/>
              </a:defRPr>
            </a:pPr>
            <a:r>
              <a:t>(CSAT)</a:t>
            </a:r>
          </a:p>
        </p:txBody>
      </p:sp>
      <p:sp>
        <p:nvSpPr>
          <p:cNvPr id="176" name="Title 1"/>
          <p:cNvSpPr txBox="1"/>
          <p:nvPr/>
        </p:nvSpPr>
        <p:spPr>
          <a:xfrm>
            <a:off x="2467797" y="3451292"/>
            <a:ext cx="1098476" cy="6328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tIns="34289" rIns="34289" bIns="34289">
            <a:spAutoFit/>
          </a:bodyPr>
          <a:lstStyle/>
          <a:p>
            <a:pPr lvl="2" indent="0" algn="ctr" defTabSz="685800">
              <a:lnSpc>
                <a:spcPct val="90000"/>
              </a:lnSpc>
              <a:defRPr sz="1400" b="1">
                <a:solidFill>
                  <a:srgbClr val="018752"/>
                </a:solidFill>
                <a:latin typeface="Arial"/>
                <a:ea typeface="Arial"/>
                <a:cs typeface="Arial"/>
                <a:sym typeface="Arial"/>
              </a:defRPr>
            </a:pPr>
            <a:r>
              <a:t>Product Quality</a:t>
            </a:r>
          </a:p>
          <a:p>
            <a:pPr lvl="2" indent="0" algn="ctr" defTabSz="685800">
              <a:lnSpc>
                <a:spcPct val="90000"/>
              </a:lnSpc>
              <a:defRPr sz="1400">
                <a:solidFill>
                  <a:srgbClr val="018752"/>
                </a:solidFill>
                <a:latin typeface="Arial"/>
                <a:ea typeface="Arial"/>
                <a:cs typeface="Arial"/>
                <a:sym typeface="Arial"/>
              </a:defRPr>
            </a:pPr>
            <a:r>
              <a:t>(PQUAL)</a:t>
            </a:r>
          </a:p>
        </p:txBody>
      </p:sp>
      <p:sp>
        <p:nvSpPr>
          <p:cNvPr id="177" name="Title 1"/>
          <p:cNvSpPr txBox="1"/>
          <p:nvPr/>
        </p:nvSpPr>
        <p:spPr>
          <a:xfrm rot="360000">
            <a:off x="1042241" y="2774346"/>
            <a:ext cx="914129" cy="6852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tIns="34289" rIns="34289" bIns="34289" anchor="ctr">
            <a:spAutoFit/>
          </a:bodyPr>
          <a:lstStyle>
            <a:lvl1pPr algn="ctr" defTabSz="685800">
              <a:defRPr sz="4400" b="1">
                <a:solidFill>
                  <a:srgbClr val="0095DA"/>
                </a:solidFill>
                <a:latin typeface="Arial"/>
                <a:ea typeface="Arial"/>
                <a:cs typeface="Arial"/>
                <a:sym typeface="Arial"/>
              </a:defRPr>
            </a:lvl1pPr>
          </a:lstStyle>
          <a:p>
            <a:r>
              <a:t>97</a:t>
            </a:r>
          </a:p>
        </p:txBody>
      </p:sp>
      <p:sp>
        <p:nvSpPr>
          <p:cNvPr id="178" name="Title 1"/>
          <p:cNvSpPr txBox="1"/>
          <p:nvPr/>
        </p:nvSpPr>
        <p:spPr>
          <a:xfrm>
            <a:off x="2589329" y="2774346"/>
            <a:ext cx="914130" cy="6852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tIns="34289" rIns="34289" bIns="34289" anchor="ctr">
            <a:spAutoFit/>
          </a:bodyPr>
          <a:lstStyle>
            <a:lvl1pPr algn="ctr" defTabSz="685800">
              <a:defRPr sz="4400" b="1">
                <a:solidFill>
                  <a:srgbClr val="0095DA"/>
                </a:solidFill>
                <a:latin typeface="Arial"/>
                <a:ea typeface="Arial"/>
                <a:cs typeface="Arial"/>
                <a:sym typeface="Arial"/>
              </a:defRPr>
            </a:lvl1pPr>
          </a:lstStyle>
          <a:p>
            <a:r>
              <a:t>97</a:t>
            </a:r>
          </a:p>
        </p:txBody>
      </p:sp>
      <p:sp>
        <p:nvSpPr>
          <p:cNvPr id="179" name="Title 1"/>
          <p:cNvSpPr txBox="1"/>
          <p:nvPr/>
        </p:nvSpPr>
        <p:spPr>
          <a:xfrm>
            <a:off x="1659075" y="1938289"/>
            <a:ext cx="1227551" cy="6328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tIns="34289" rIns="34289" bIns="34289">
            <a:spAutoFit/>
          </a:bodyPr>
          <a:lstStyle/>
          <a:p>
            <a:pPr lvl="2" indent="0" algn="ctr" defTabSz="685800">
              <a:lnSpc>
                <a:spcPct val="90000"/>
              </a:lnSpc>
              <a:defRPr sz="1400" b="1">
                <a:solidFill>
                  <a:srgbClr val="018752"/>
                </a:solidFill>
                <a:latin typeface="Arial"/>
                <a:ea typeface="Arial"/>
                <a:cs typeface="Arial"/>
                <a:sym typeface="Arial"/>
              </a:defRPr>
            </a:pPr>
            <a:r>
              <a:t>Net Promoter Score</a:t>
            </a:r>
          </a:p>
          <a:p>
            <a:pPr lvl="2" indent="0" algn="ctr" defTabSz="685800">
              <a:lnSpc>
                <a:spcPct val="90000"/>
              </a:lnSpc>
              <a:defRPr sz="1400">
                <a:solidFill>
                  <a:srgbClr val="018752"/>
                </a:solidFill>
                <a:latin typeface="Arial"/>
                <a:ea typeface="Arial"/>
                <a:cs typeface="Arial"/>
                <a:sym typeface="Arial"/>
              </a:defRPr>
            </a:pPr>
            <a:r>
              <a:t>(NPS)</a:t>
            </a:r>
          </a:p>
        </p:txBody>
      </p:sp>
      <p:sp>
        <p:nvSpPr>
          <p:cNvPr id="180" name="Content Placeholder 2"/>
          <p:cNvSpPr txBox="1"/>
          <p:nvPr/>
        </p:nvSpPr>
        <p:spPr>
          <a:xfrm>
            <a:off x="4661560" y="1200151"/>
            <a:ext cx="3979519" cy="11926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defTabSz="685800">
              <a:spcBef>
                <a:spcPts val="300"/>
              </a:spcBef>
              <a:defRPr sz="1600">
                <a:solidFill>
                  <a:srgbClr val="FF0000"/>
                </a:solidFill>
                <a:latin typeface="Arial"/>
                <a:ea typeface="Arial"/>
                <a:cs typeface="Arial"/>
                <a:sym typeface="Arial"/>
              </a:defRPr>
            </a:pPr>
            <a:r>
              <a:t>What we’re hearing from your team: </a:t>
            </a:r>
            <a:endParaRPr sz="1500"/>
          </a:p>
          <a:p>
            <a:pPr marL="285750" indent="-285750" defTabSz="685800">
              <a:spcBef>
                <a:spcPts val="300"/>
              </a:spcBef>
              <a:buClr>
                <a:srgbClr val="0095DA"/>
              </a:buClr>
              <a:buSzPct val="100000"/>
              <a:buFont typeface="Wingdings" pitchFamily="2" charset="2"/>
              <a:buChar char="§"/>
              <a:defRPr sz="1600" i="1">
                <a:solidFill>
                  <a:srgbClr val="FF0000"/>
                </a:solidFill>
                <a:latin typeface="Arial"/>
                <a:ea typeface="Arial"/>
                <a:cs typeface="Arial"/>
                <a:sym typeface="Arial"/>
              </a:defRPr>
            </a:pPr>
            <a:r>
              <a:t>“Insert survey comments here” </a:t>
            </a:r>
            <a:endParaRPr sz="1500"/>
          </a:p>
          <a:p>
            <a:pPr marL="285750" indent="-285750" defTabSz="685800">
              <a:spcBef>
                <a:spcPts val="300"/>
              </a:spcBef>
              <a:buClr>
                <a:srgbClr val="0095DA"/>
              </a:buClr>
              <a:buSzPct val="100000"/>
              <a:buFont typeface="Wingdings" pitchFamily="2" charset="2"/>
              <a:buChar char="§"/>
              <a:defRPr sz="1600" i="1">
                <a:solidFill>
                  <a:srgbClr val="FF0000"/>
                </a:solidFill>
                <a:latin typeface="Arial"/>
                <a:ea typeface="Arial"/>
                <a:cs typeface="Arial"/>
                <a:sym typeface="Arial"/>
              </a:defRPr>
            </a:pPr>
            <a:r>
              <a:t>“Insert survey comments here” </a:t>
            </a:r>
            <a:endParaRPr sz="1500"/>
          </a:p>
          <a:p>
            <a:pPr marL="285750" indent="-285750" defTabSz="685800">
              <a:spcBef>
                <a:spcPts val="300"/>
              </a:spcBef>
              <a:buClr>
                <a:srgbClr val="0095DA"/>
              </a:buClr>
              <a:buSzPct val="100000"/>
              <a:buFont typeface="Wingdings" pitchFamily="2" charset="2"/>
              <a:buChar char="§"/>
              <a:defRPr sz="1600" i="1">
                <a:solidFill>
                  <a:srgbClr val="FF0000"/>
                </a:solidFill>
                <a:latin typeface="Arial"/>
                <a:ea typeface="Arial"/>
                <a:cs typeface="Arial"/>
                <a:sym typeface="Arial"/>
              </a:defRPr>
            </a:pPr>
            <a:r>
              <a:t>“Insert survey comments here” </a:t>
            </a:r>
            <a:endParaRPr sz="150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Title 1"/>
          <p:cNvSpPr txBox="1">
            <a:spLocks noGrp="1"/>
          </p:cNvSpPr>
          <p:nvPr>
            <p:ph type="title"/>
          </p:nvPr>
        </p:nvSpPr>
        <p:spPr>
          <a:xfrm>
            <a:off x="457200" y="1671439"/>
            <a:ext cx="8229600" cy="1292622"/>
          </a:xfrm>
          <a:prstGeom prst="rect">
            <a:avLst/>
          </a:prstGeom>
        </p:spPr>
        <p:txBody>
          <a:bodyPr/>
          <a:lstStyle>
            <a:lvl1pPr>
              <a:lnSpc>
                <a:spcPct val="90000"/>
              </a:lnSpc>
              <a:spcBef>
                <a:spcPts val="1100"/>
              </a:spcBef>
              <a:defRPr sz="4800"/>
            </a:lvl1pPr>
          </a:lstStyle>
          <a:p>
            <a:r>
              <a:t>Open Technical Items  </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Title 2"/>
          <p:cNvSpPr txBox="1">
            <a:spLocks noGrp="1"/>
          </p:cNvSpPr>
          <p:nvPr>
            <p:ph type="title"/>
          </p:nvPr>
        </p:nvSpPr>
        <p:spPr>
          <a:prstGeom prst="rect">
            <a:avLst/>
          </a:prstGeom>
        </p:spPr>
        <p:txBody>
          <a:bodyPr/>
          <a:lstStyle/>
          <a:p>
            <a:r>
              <a:t>Current Project Review</a:t>
            </a:r>
          </a:p>
        </p:txBody>
      </p:sp>
      <p:sp>
        <p:nvSpPr>
          <p:cNvPr id="185" name="Content Placeholder 3"/>
          <p:cNvSpPr txBox="1">
            <a:spLocks noGrp="1"/>
          </p:cNvSpPr>
          <p:nvPr>
            <p:ph type="body" idx="1"/>
          </p:nvPr>
        </p:nvSpPr>
        <p:spPr>
          <a:xfrm>
            <a:off x="457200" y="1200151"/>
            <a:ext cx="8229600" cy="3394472"/>
          </a:xfrm>
          <a:prstGeom prst="rect">
            <a:avLst/>
          </a:prstGeom>
        </p:spPr>
        <p:txBody>
          <a:bodyPr/>
          <a:lstStyle/>
          <a:p>
            <a:pPr>
              <a:buFont typeface="Wingdings" pitchFamily="2" charset="2"/>
              <a:buChar char="§"/>
              <a:defRPr>
                <a:solidFill>
                  <a:srgbClr val="FF0000"/>
                </a:solidFill>
              </a:defRPr>
            </a:pPr>
            <a:r>
              <a:t>M365 Migration </a:t>
            </a:r>
          </a:p>
          <a:p>
            <a:pPr>
              <a:buFont typeface="Wingdings" pitchFamily="2" charset="2"/>
              <a:buChar char="§"/>
              <a:defRPr>
                <a:solidFill>
                  <a:srgbClr val="FF0000"/>
                </a:solidFill>
              </a:defRPr>
            </a:pPr>
            <a:r>
              <a:t>Network Upgrade</a:t>
            </a:r>
          </a:p>
          <a:p>
            <a:pPr marL="0" indent="0">
              <a:buSzTx/>
              <a:buFont typeface="Wingdings"/>
              <a:buNone/>
            </a:pPr>
            <a:endParaRPr/>
          </a:p>
          <a:p>
            <a:pPr marL="0" indent="0">
              <a:buSzTx/>
              <a:buFont typeface="Wingdings"/>
              <a:buNone/>
              <a:defRPr>
                <a:solidFill>
                  <a:srgbClr val="FF0000"/>
                </a:solidFill>
              </a:defRPr>
            </a:pPr>
            <a:r>
              <a:t>ABC Company </a:t>
            </a:r>
            <a:r>
              <a:rPr>
                <a:solidFill>
                  <a:srgbClr val="000000"/>
                </a:solidFill>
              </a:rPr>
              <a:t>is in the </a:t>
            </a:r>
            <a:r>
              <a:t>middle/phase</a:t>
            </a:r>
            <a:r>
              <a:rPr>
                <a:solidFill>
                  <a:srgbClr val="000000"/>
                </a:solidFill>
              </a:rPr>
              <a:t> of the project. </a:t>
            </a:r>
          </a:p>
          <a:p>
            <a:pPr marL="0" indent="0">
              <a:buSzTx/>
              <a:buFont typeface="Wingdings"/>
              <a:buNone/>
            </a:pPr>
            <a:r>
              <a:t>This includes </a:t>
            </a:r>
            <a:r>
              <a:rPr>
                <a:solidFill>
                  <a:srgbClr val="FF0000"/>
                </a:solidFill>
              </a:rPr>
              <a:t>{brief explanation here}</a:t>
            </a:r>
            <a:r>
              <a:t>. </a:t>
            </a:r>
          </a:p>
          <a:p>
            <a:pPr marL="0" indent="0">
              <a:buSzTx/>
              <a:buFont typeface="Wingdings"/>
              <a:buNone/>
            </a:pPr>
            <a:r>
              <a:t>The project should be completed before the end of </a:t>
            </a:r>
            <a:r>
              <a:rPr>
                <a:solidFill>
                  <a:srgbClr val="FF0000"/>
                </a:solidFill>
              </a:rPr>
              <a:t>July 202x</a:t>
            </a:r>
            <a:r>
              <a:t>.</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Content Placeholder 2"/>
          <p:cNvSpPr txBox="1">
            <a:spLocks noGrp="1"/>
          </p:cNvSpPr>
          <p:nvPr>
            <p:ph type="body" idx="1"/>
          </p:nvPr>
        </p:nvSpPr>
        <p:spPr>
          <a:xfrm>
            <a:off x="457200" y="1653498"/>
            <a:ext cx="8229600" cy="2488355"/>
          </a:xfrm>
          <a:prstGeom prst="rect">
            <a:avLst/>
          </a:prstGeom>
        </p:spPr>
        <p:txBody>
          <a:bodyPr/>
          <a:lstStyle/>
          <a:p>
            <a:pPr>
              <a:buFont typeface="Wingdings" pitchFamily="2" charset="2"/>
              <a:buChar char="§"/>
              <a:defRPr>
                <a:solidFill>
                  <a:srgbClr val="FF0000"/>
                </a:solidFill>
              </a:defRPr>
            </a:pPr>
            <a:r>
              <a:t>List specific devices that may need to be </a:t>
            </a:r>
            <a:r>
              <a:rPr b="1" u="sng"/>
              <a:t>replaced</a:t>
            </a:r>
            <a:r>
              <a:t> including an explanation why (i.e., end of support/end of life), the hours needed to complete the work, and the cost of any new licenses or hardware enhancements. </a:t>
            </a:r>
          </a:p>
        </p:txBody>
      </p:sp>
      <p:sp>
        <p:nvSpPr>
          <p:cNvPr id="191" name="Title 1"/>
          <p:cNvSpPr txBox="1">
            <a:spLocks noGrp="1"/>
          </p:cNvSpPr>
          <p:nvPr>
            <p:ph type="title"/>
          </p:nvPr>
        </p:nvSpPr>
        <p:spPr>
          <a:xfrm>
            <a:off x="457200" y="205978"/>
            <a:ext cx="8229600" cy="1390188"/>
          </a:xfrm>
          <a:prstGeom prst="rect">
            <a:avLst/>
          </a:prstGeom>
        </p:spPr>
        <p:txBody>
          <a:bodyPr>
            <a:noAutofit/>
          </a:bodyPr>
          <a:lstStyle/>
          <a:p>
            <a:r>
              <a:t>Devices Under Management </a:t>
            </a:r>
            <a:br/>
            <a:r>
              <a:t>Recommended for Upgrade </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Title 1"/>
          <p:cNvSpPr txBox="1">
            <a:spLocks noGrp="1"/>
          </p:cNvSpPr>
          <p:nvPr>
            <p:ph type="title"/>
          </p:nvPr>
        </p:nvSpPr>
        <p:spPr>
          <a:xfrm>
            <a:off x="457200" y="205978"/>
            <a:ext cx="8229601" cy="1390188"/>
          </a:xfrm>
          <a:prstGeom prst="rect">
            <a:avLst/>
          </a:prstGeom>
        </p:spPr>
        <p:txBody>
          <a:bodyPr>
            <a:noAutofit/>
          </a:bodyPr>
          <a:lstStyle/>
          <a:p>
            <a:r>
              <a:t>Devices Under Management </a:t>
            </a:r>
            <a:br/>
            <a:r>
              <a:t>Recommended for Upgrade </a:t>
            </a:r>
          </a:p>
        </p:txBody>
      </p:sp>
      <p:sp>
        <p:nvSpPr>
          <p:cNvPr id="188" name="Content Placeholder 2"/>
          <p:cNvSpPr txBox="1">
            <a:spLocks noGrp="1"/>
          </p:cNvSpPr>
          <p:nvPr>
            <p:ph type="body" idx="1"/>
          </p:nvPr>
        </p:nvSpPr>
        <p:spPr>
          <a:xfrm>
            <a:off x="457200" y="1653498"/>
            <a:ext cx="8229600" cy="2518518"/>
          </a:xfrm>
          <a:prstGeom prst="rect">
            <a:avLst/>
          </a:prstGeom>
        </p:spPr>
        <p:txBody>
          <a:bodyPr/>
          <a:lstStyle/>
          <a:p>
            <a:pPr>
              <a:buFont typeface="Wingdings" pitchFamily="2" charset="2"/>
              <a:buChar char="§"/>
              <a:defRPr>
                <a:solidFill>
                  <a:srgbClr val="FF0000"/>
                </a:solidFill>
              </a:defRPr>
            </a:pPr>
            <a:r>
              <a:t>List specific devices that may need to be </a:t>
            </a:r>
            <a:r>
              <a:rPr b="1" u="sng"/>
              <a:t>upgraded</a:t>
            </a:r>
            <a:r>
              <a:t> including an explanation why, the hours needed to complete the work, and the cost of any new licenses or hardware enhancements. </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Title 1"/>
          <p:cNvSpPr txBox="1">
            <a:spLocks noGrp="1"/>
          </p:cNvSpPr>
          <p:nvPr>
            <p:ph type="title"/>
          </p:nvPr>
        </p:nvSpPr>
        <p:spPr>
          <a:prstGeom prst="rect">
            <a:avLst/>
          </a:prstGeom>
        </p:spPr>
        <p:txBody>
          <a:bodyPr/>
          <a:lstStyle/>
          <a:p>
            <a:r>
              <a:t>Cybersecurity</a:t>
            </a:r>
          </a:p>
        </p:txBody>
      </p:sp>
      <p:sp>
        <p:nvSpPr>
          <p:cNvPr id="194" name="Content Placeholder 2"/>
          <p:cNvSpPr txBox="1">
            <a:spLocks noGrp="1"/>
          </p:cNvSpPr>
          <p:nvPr>
            <p:ph type="body" idx="1"/>
          </p:nvPr>
        </p:nvSpPr>
        <p:spPr>
          <a:xfrm>
            <a:off x="457200" y="1200151"/>
            <a:ext cx="8229600" cy="3394472"/>
          </a:xfrm>
          <a:prstGeom prst="rect">
            <a:avLst/>
          </a:prstGeom>
        </p:spPr>
        <p:txBody>
          <a:bodyPr/>
          <a:lstStyle/>
          <a:p>
            <a:pPr marL="0" indent="0">
              <a:buSzTx/>
              <a:buFont typeface="Wingdings"/>
              <a:buNone/>
              <a:defRPr b="1" i="1">
                <a:solidFill>
                  <a:srgbClr val="FF0000"/>
                </a:solidFill>
              </a:defRPr>
            </a:pPr>
            <a:r>
              <a:t>Provide specific observations or vulnerabilities here. Examples provided. </a:t>
            </a:r>
          </a:p>
          <a:p>
            <a:pPr>
              <a:buFont typeface="Wingdings" pitchFamily="2" charset="2"/>
              <a:buChar char="§"/>
              <a:defRPr b="1">
                <a:solidFill>
                  <a:srgbClr val="FF0000"/>
                </a:solidFill>
              </a:defRPr>
            </a:pPr>
            <a:r>
              <a:t>Legacy Infrastructure: </a:t>
            </a:r>
            <a:r>
              <a:rPr b="0"/>
              <a:t>Core systems rely on outdated hardware and on-premise servers, limiting agility and scalability.</a:t>
            </a:r>
          </a:p>
          <a:p>
            <a:pPr lvl="1">
              <a:spcBef>
                <a:spcPts val="300"/>
              </a:spcBef>
              <a:buFont typeface="Wingdings" pitchFamily="2" charset="2"/>
              <a:buChar char="§"/>
              <a:defRPr sz="1400" i="1">
                <a:solidFill>
                  <a:srgbClr val="FF0000"/>
                </a:solidFill>
              </a:defRPr>
            </a:pPr>
            <a:r>
              <a:t>Recommendation:</a:t>
            </a:r>
            <a:r>
              <a:rPr i="0"/>
              <a:t> Transition to a hybrid or cloud-first architecture to improve flexibility and support future growth.</a:t>
            </a:r>
          </a:p>
          <a:p>
            <a:pPr>
              <a:buFont typeface="Wingdings" pitchFamily="2" charset="2"/>
              <a:buChar char="§"/>
              <a:defRPr b="1">
                <a:solidFill>
                  <a:srgbClr val="FF0000"/>
                </a:solidFill>
              </a:defRPr>
            </a:pPr>
            <a:r>
              <a:t>Security Gaps:</a:t>
            </a:r>
            <a:r>
              <a:rPr b="0"/>
              <a:t> No centralized monitoring; compliance gaps increase cyber risk exposure.</a:t>
            </a:r>
          </a:p>
          <a:p>
            <a:pPr lvl="1">
              <a:spcBef>
                <a:spcPts val="300"/>
              </a:spcBef>
              <a:buFont typeface="Wingdings" pitchFamily="2" charset="2"/>
              <a:buChar char="§"/>
              <a:defRPr sz="1400" i="1">
                <a:solidFill>
                  <a:srgbClr val="FF0000"/>
                </a:solidFill>
              </a:defRPr>
            </a:pPr>
            <a:r>
              <a:t>Recommendation:</a:t>
            </a:r>
            <a:r>
              <a:rPr i="0"/>
              <a:t> Implement a layered security strategy and schedule quarterly vulnerability assessments. Adopt Managed Detection and Response (MDR). </a:t>
            </a:r>
          </a:p>
          <a:p>
            <a:pPr>
              <a:buFont typeface="Wingdings" pitchFamily="2" charset="2"/>
              <a:buChar char="§"/>
              <a:defRPr b="1">
                <a:solidFill>
                  <a:srgbClr val="FF0000"/>
                </a:solidFill>
              </a:defRPr>
            </a:pPr>
            <a:r>
              <a:t>Underutilized Tools:</a:t>
            </a:r>
            <a:r>
              <a:rPr b="0"/>
              <a:t> Low adoption of security awareness training and education.</a:t>
            </a:r>
            <a:endParaRPr i="1"/>
          </a:p>
          <a:p>
            <a:pPr lvl="1">
              <a:spcBef>
                <a:spcPts val="300"/>
              </a:spcBef>
              <a:buFont typeface="Wingdings" pitchFamily="2" charset="2"/>
              <a:buChar char="§"/>
              <a:defRPr sz="1400" i="1">
                <a:solidFill>
                  <a:srgbClr val="FF0000"/>
                </a:solidFill>
              </a:defRPr>
            </a:pPr>
            <a:r>
              <a:t>Recommendation:</a:t>
            </a:r>
            <a:r>
              <a:rPr i="0"/>
              <a:t> Launch a structured user training and adoption campaign to improve cybersecurity awareness training through phishing simulations, policies, and course completion. </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Title 1"/>
          <p:cNvSpPr txBox="1">
            <a:spLocks noGrp="1"/>
          </p:cNvSpPr>
          <p:nvPr>
            <p:ph type="title"/>
          </p:nvPr>
        </p:nvSpPr>
        <p:spPr>
          <a:prstGeom prst="rect">
            <a:avLst/>
          </a:prstGeom>
        </p:spPr>
        <p:txBody>
          <a:bodyPr/>
          <a:lstStyle/>
          <a:p>
            <a:r>
              <a:t>Backup / Business Continuity</a:t>
            </a:r>
          </a:p>
        </p:txBody>
      </p:sp>
      <p:sp>
        <p:nvSpPr>
          <p:cNvPr id="197" name="Content Placeholder 2"/>
          <p:cNvSpPr txBox="1">
            <a:spLocks noGrp="1"/>
          </p:cNvSpPr>
          <p:nvPr>
            <p:ph type="body" idx="1"/>
          </p:nvPr>
        </p:nvSpPr>
        <p:spPr>
          <a:xfrm>
            <a:off x="457200" y="1200151"/>
            <a:ext cx="8229600" cy="3394472"/>
          </a:xfrm>
          <a:prstGeom prst="rect">
            <a:avLst/>
          </a:prstGeom>
        </p:spPr>
        <p:txBody>
          <a:bodyPr/>
          <a:lstStyle/>
          <a:p>
            <a:pPr marL="0" indent="0">
              <a:buSzTx/>
              <a:buFont typeface="Wingdings"/>
              <a:buNone/>
              <a:defRPr b="1" i="1">
                <a:solidFill>
                  <a:srgbClr val="FF0000"/>
                </a:solidFill>
              </a:defRPr>
            </a:pPr>
            <a:r>
              <a:t>Provide specific observations or vulnerabilities here. Examples provided. </a:t>
            </a:r>
          </a:p>
          <a:p>
            <a:pPr>
              <a:buFont typeface="Wingdings" pitchFamily="2" charset="2"/>
              <a:buChar char="§"/>
              <a:defRPr b="1">
                <a:solidFill>
                  <a:srgbClr val="FF0000"/>
                </a:solidFill>
              </a:defRPr>
            </a:pPr>
            <a:r>
              <a:t>Incomplete Backup Coverage:</a:t>
            </a:r>
            <a:r>
              <a:rPr b="0"/>
              <a:t> Critical applications and databases are not included in current backups.</a:t>
            </a:r>
          </a:p>
          <a:p>
            <a:pPr lvl="1">
              <a:spcBef>
                <a:spcPts val="300"/>
              </a:spcBef>
              <a:buFont typeface="Wingdings" pitchFamily="2" charset="2"/>
              <a:buChar char="§"/>
              <a:defRPr sz="1400" i="1">
                <a:solidFill>
                  <a:srgbClr val="FF0000"/>
                </a:solidFill>
              </a:defRPr>
            </a:pPr>
            <a:r>
              <a:t>Recommendation:</a:t>
            </a:r>
            <a:r>
              <a:rPr i="0"/>
              <a:t> Expand backup scope and validate coverage quarterly.</a:t>
            </a:r>
          </a:p>
          <a:p>
            <a:pPr>
              <a:buFont typeface="Wingdings" pitchFamily="2" charset="2"/>
              <a:buChar char="§"/>
              <a:defRPr b="1">
                <a:solidFill>
                  <a:srgbClr val="FF0000"/>
                </a:solidFill>
              </a:defRPr>
            </a:pPr>
            <a:r>
              <a:t>No Offsite Replication:</a:t>
            </a:r>
            <a:r>
              <a:rPr b="0"/>
              <a:t> Backups stored only locally create a single point of failure.</a:t>
            </a:r>
          </a:p>
          <a:p>
            <a:pPr lvl="1">
              <a:spcBef>
                <a:spcPts val="300"/>
              </a:spcBef>
              <a:buFont typeface="Wingdings" pitchFamily="2" charset="2"/>
              <a:buChar char="§"/>
              <a:defRPr sz="1400" i="1">
                <a:solidFill>
                  <a:srgbClr val="FF0000"/>
                </a:solidFill>
              </a:defRPr>
            </a:pPr>
            <a:r>
              <a:t>Recommendation:</a:t>
            </a:r>
            <a:r>
              <a:rPr i="0"/>
              <a:t> Implement offsite or cloud-based replication for geographic redundancy.</a:t>
            </a:r>
          </a:p>
          <a:p>
            <a:pPr>
              <a:buFont typeface="Wingdings" pitchFamily="2" charset="2"/>
              <a:buChar char="§"/>
              <a:defRPr b="1">
                <a:solidFill>
                  <a:srgbClr val="FF0000"/>
                </a:solidFill>
              </a:defRPr>
            </a:pPr>
            <a:r>
              <a:t>Missing Disaster Recovery Plan: </a:t>
            </a:r>
            <a:r>
              <a:rPr b="0"/>
              <a:t>No formal, tested DR plan exists for outage scenarios.</a:t>
            </a:r>
          </a:p>
          <a:p>
            <a:pPr lvl="1">
              <a:spcBef>
                <a:spcPts val="300"/>
              </a:spcBef>
              <a:buFont typeface="Wingdings" pitchFamily="2" charset="2"/>
              <a:buChar char="§"/>
              <a:defRPr sz="1400" i="1">
                <a:solidFill>
                  <a:srgbClr val="FF0000"/>
                </a:solidFill>
              </a:defRPr>
            </a:pPr>
            <a:r>
              <a:t>Recommendation:</a:t>
            </a:r>
            <a:r>
              <a:rPr i="0"/>
              <a:t> Develop and test a comprehensive DR plan with defined RTO/RPO objectives.</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Title 1"/>
          <p:cNvSpPr txBox="1">
            <a:spLocks noGrp="1"/>
          </p:cNvSpPr>
          <p:nvPr>
            <p:ph type="title"/>
          </p:nvPr>
        </p:nvSpPr>
        <p:spPr>
          <a:xfrm>
            <a:off x="457200" y="1671439"/>
            <a:ext cx="8229601" cy="1292622"/>
          </a:xfrm>
          <a:prstGeom prst="rect">
            <a:avLst/>
          </a:prstGeom>
        </p:spPr>
        <p:txBody>
          <a:bodyPr/>
          <a:lstStyle>
            <a:lvl1pPr>
              <a:lnSpc>
                <a:spcPct val="90000"/>
              </a:lnSpc>
              <a:spcBef>
                <a:spcPts val="1100"/>
              </a:spcBef>
              <a:defRPr sz="4800"/>
            </a:lvl1pPr>
          </a:lstStyle>
          <a:p>
            <a:r>
              <a:t>Strategic Initiatives</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itle 2"/>
          <p:cNvSpPr txBox="1">
            <a:spLocks noGrp="1"/>
          </p:cNvSpPr>
          <p:nvPr>
            <p:ph type="title"/>
          </p:nvPr>
        </p:nvSpPr>
        <p:spPr>
          <a:prstGeom prst="rect">
            <a:avLst/>
          </a:prstGeom>
        </p:spPr>
        <p:txBody>
          <a:bodyPr/>
          <a:lstStyle/>
          <a:p>
            <a:r>
              <a:t>Scheduled Projects</a:t>
            </a:r>
          </a:p>
        </p:txBody>
      </p:sp>
      <p:sp>
        <p:nvSpPr>
          <p:cNvPr id="202" name="Content Placeholder 3"/>
          <p:cNvSpPr txBox="1">
            <a:spLocks noGrp="1"/>
          </p:cNvSpPr>
          <p:nvPr>
            <p:ph type="body" idx="1"/>
          </p:nvPr>
        </p:nvSpPr>
        <p:spPr>
          <a:xfrm>
            <a:off x="457200" y="1200151"/>
            <a:ext cx="8229600" cy="2971865"/>
          </a:xfrm>
          <a:prstGeom prst="rect">
            <a:avLst/>
          </a:prstGeom>
        </p:spPr>
        <p:txBody>
          <a:bodyPr/>
          <a:lstStyle/>
          <a:p>
            <a:pPr>
              <a:buFont typeface="Wingdings" pitchFamily="2" charset="2"/>
              <a:buChar char="§"/>
              <a:defRPr>
                <a:solidFill>
                  <a:srgbClr val="FF0000"/>
                </a:solidFill>
              </a:defRPr>
            </a:pPr>
            <a:r>
              <a:t>Server Replacement &gt; Migration to Cloud Solution</a:t>
            </a:r>
          </a:p>
          <a:p>
            <a:pPr>
              <a:buFont typeface="Wingdings" pitchFamily="2" charset="2"/>
              <a:buChar char="§"/>
              <a:defRPr>
                <a:solidFill>
                  <a:srgbClr val="FF0000"/>
                </a:solidFill>
              </a:defRPr>
            </a:pPr>
            <a:r>
              <a:t>Access Points to Enhance Wi-Fi Connectivity</a:t>
            </a:r>
          </a:p>
          <a:p>
            <a:pPr marL="0" indent="0">
              <a:buSzTx/>
              <a:buFont typeface="Wingdings"/>
              <a:buNone/>
            </a:pPr>
            <a:endParaRPr/>
          </a:p>
          <a:p>
            <a:pPr marL="0" indent="0">
              <a:buSzTx/>
              <a:buFont typeface="Wingdings"/>
              <a:buNone/>
            </a:pPr>
            <a:r>
              <a:t>Estimated start date for project is </a:t>
            </a:r>
            <a:r>
              <a:rPr>
                <a:solidFill>
                  <a:srgbClr val="FF0000"/>
                </a:solidFill>
              </a:rPr>
              <a:t>August 202x</a:t>
            </a:r>
            <a:r>
              <a:t>.</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Title 2"/>
          <p:cNvSpPr txBox="1">
            <a:spLocks noGrp="1"/>
          </p:cNvSpPr>
          <p:nvPr>
            <p:ph type="title"/>
          </p:nvPr>
        </p:nvSpPr>
        <p:spPr>
          <a:prstGeom prst="rect">
            <a:avLst/>
          </a:prstGeom>
        </p:spPr>
        <p:txBody>
          <a:bodyPr/>
          <a:lstStyle/>
          <a:p>
            <a:r>
              <a:t>Recommended Services</a:t>
            </a:r>
          </a:p>
        </p:txBody>
      </p:sp>
      <p:sp>
        <p:nvSpPr>
          <p:cNvPr id="205" name="Content Placeholder 3"/>
          <p:cNvSpPr txBox="1">
            <a:spLocks noGrp="1"/>
          </p:cNvSpPr>
          <p:nvPr>
            <p:ph type="body" idx="1"/>
          </p:nvPr>
        </p:nvSpPr>
        <p:spPr>
          <a:xfrm>
            <a:off x="457200" y="1215662"/>
            <a:ext cx="8229600" cy="3394473"/>
          </a:xfrm>
          <a:prstGeom prst="rect">
            <a:avLst/>
          </a:prstGeom>
        </p:spPr>
        <p:txBody>
          <a:bodyPr/>
          <a:lstStyle/>
          <a:p>
            <a:pPr marL="0" indent="0" defTabSz="651509">
              <a:spcBef>
                <a:spcPts val="1300"/>
              </a:spcBef>
              <a:buSzTx/>
              <a:buFont typeface="Wingdings"/>
              <a:buNone/>
              <a:defRPr sz="1140" i="1">
                <a:solidFill>
                  <a:srgbClr val="FF0000"/>
                </a:solidFill>
              </a:defRPr>
            </a:pPr>
            <a:r>
              <a:t>This section is your opportunity to recommend additional services to expand this client’s managed services offering. </a:t>
            </a:r>
          </a:p>
          <a:p>
            <a:pPr marL="217170" indent="-217170" defTabSz="651509">
              <a:spcBef>
                <a:spcPts val="700"/>
              </a:spcBef>
              <a:buAutoNum type="arabicPeriod"/>
              <a:defRPr sz="1520">
                <a:solidFill>
                  <a:srgbClr val="FF0000"/>
                </a:solidFill>
              </a:defRPr>
            </a:pPr>
            <a:r>
              <a:t>Cloud Computing Technology </a:t>
            </a:r>
          </a:p>
          <a:p>
            <a:pPr marL="217170" indent="-217170" defTabSz="651509">
              <a:spcBef>
                <a:spcPts val="700"/>
              </a:spcBef>
              <a:buAutoNum type="arabicPeriod"/>
              <a:defRPr sz="1520">
                <a:solidFill>
                  <a:srgbClr val="FF0000"/>
                </a:solidFill>
              </a:defRPr>
            </a:pPr>
            <a:r>
              <a:t>Cybersecurity Essentials</a:t>
            </a:r>
          </a:p>
          <a:p>
            <a:pPr marL="217170" indent="-217170" defTabSz="651509">
              <a:spcBef>
                <a:spcPts val="700"/>
              </a:spcBef>
              <a:buAutoNum type="arabicPeriod"/>
              <a:defRPr sz="1520">
                <a:solidFill>
                  <a:srgbClr val="FF0000"/>
                </a:solidFill>
              </a:defRPr>
            </a:pPr>
            <a:r>
              <a:t>Recommended Additional Cybersecurity </a:t>
            </a:r>
          </a:p>
          <a:p>
            <a:pPr marL="466725" lvl="1" indent="-285750" defTabSz="651509">
              <a:spcBef>
                <a:spcPts val="700"/>
              </a:spcBef>
              <a:buFont typeface="Wingdings" pitchFamily="2" charset="2"/>
              <a:buChar char="§"/>
              <a:defRPr sz="1520">
                <a:solidFill>
                  <a:srgbClr val="FF0000"/>
                </a:solidFill>
              </a:defRPr>
            </a:pPr>
            <a:r>
              <a:t>Endpoint + Cloud Protection (MDR) </a:t>
            </a:r>
            <a:r>
              <a:rPr lang="en-US"/>
              <a:t>–</a:t>
            </a:r>
            <a:r>
              <a:t> Device and Cloud Security Monitoring</a:t>
            </a:r>
            <a:endParaRPr sz="1330"/>
          </a:p>
          <a:p>
            <a:pPr marL="466725" lvl="1" indent="-285750" defTabSz="651509">
              <a:spcBef>
                <a:spcPts val="700"/>
              </a:spcBef>
              <a:buFont typeface="Wingdings" pitchFamily="2" charset="2"/>
              <a:buChar char="§"/>
              <a:defRPr sz="1520">
                <a:solidFill>
                  <a:srgbClr val="FF0000"/>
                </a:solidFill>
              </a:defRPr>
            </a:pPr>
            <a:r>
              <a:t>Secure Access Service Edge + Network Data Loss Prevention – Secure Login and Permission Management</a:t>
            </a:r>
            <a:endParaRPr sz="1330"/>
          </a:p>
          <a:p>
            <a:pPr marL="466725" lvl="1" indent="-285750" defTabSz="651509">
              <a:spcBef>
                <a:spcPts val="700"/>
              </a:spcBef>
              <a:buFont typeface="Wingdings" pitchFamily="2" charset="2"/>
              <a:buChar char="§"/>
              <a:defRPr sz="1520">
                <a:solidFill>
                  <a:srgbClr val="FF0000"/>
                </a:solidFill>
              </a:defRPr>
            </a:pPr>
            <a:r>
              <a:t>Mobile Device Management (MDM) – Secure Access on Mobile Devices</a:t>
            </a:r>
            <a:endParaRPr sz="1330"/>
          </a:p>
          <a:p>
            <a:pPr marL="466725" lvl="1" indent="-285750" defTabSz="651509">
              <a:spcBef>
                <a:spcPts val="700"/>
              </a:spcBef>
              <a:buFont typeface="Wingdings" pitchFamily="2" charset="2"/>
              <a:buChar char="§"/>
              <a:defRPr sz="1520">
                <a:solidFill>
                  <a:srgbClr val="FF0000"/>
                </a:solidFill>
              </a:defRPr>
            </a:pPr>
            <a:r>
              <a:t>Penetration Testing – Security Testing</a:t>
            </a:r>
            <a:endParaRPr sz="1330"/>
          </a:p>
          <a:p>
            <a:pPr marL="466725" lvl="1" indent="-285750" defTabSz="651509">
              <a:spcBef>
                <a:spcPts val="700"/>
              </a:spcBef>
              <a:buFont typeface="Wingdings" pitchFamily="2" charset="2"/>
              <a:buChar char="§"/>
              <a:defRPr sz="1520">
                <a:solidFill>
                  <a:srgbClr val="FF0000"/>
                </a:solidFill>
              </a:defRPr>
            </a:pPr>
            <a:r>
              <a:t>SIEM / SOC  and Threat Hunting – Cyber Attach Detection</a:t>
            </a:r>
            <a:endParaRPr sz="1330"/>
          </a:p>
          <a:p>
            <a:pPr marL="217170" indent="-217170" defTabSz="651509">
              <a:spcBef>
                <a:spcPts val="700"/>
              </a:spcBef>
              <a:buAutoNum type="arabicPeriod"/>
              <a:defRPr sz="1520">
                <a:solidFill>
                  <a:srgbClr val="FF0000"/>
                </a:solidFill>
              </a:defRPr>
            </a:pPr>
            <a:r>
              <a:t>Other</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Title 2"/>
          <p:cNvSpPr txBox="1">
            <a:spLocks noGrp="1"/>
          </p:cNvSpPr>
          <p:nvPr>
            <p:ph type="title"/>
          </p:nvPr>
        </p:nvSpPr>
        <p:spPr>
          <a:prstGeom prst="rect">
            <a:avLst/>
          </a:prstGeom>
        </p:spPr>
        <p:txBody>
          <a:bodyPr/>
          <a:lstStyle/>
          <a:p>
            <a:r>
              <a:t>Near-Term Priorities</a:t>
            </a:r>
          </a:p>
        </p:txBody>
      </p:sp>
      <p:sp>
        <p:nvSpPr>
          <p:cNvPr id="208" name="Content Placeholder 3"/>
          <p:cNvSpPr txBox="1">
            <a:spLocks noGrp="1"/>
          </p:cNvSpPr>
          <p:nvPr>
            <p:ph type="body" idx="1"/>
          </p:nvPr>
        </p:nvSpPr>
        <p:spPr>
          <a:xfrm>
            <a:off x="457200" y="1200151"/>
            <a:ext cx="8229600" cy="3394472"/>
          </a:xfrm>
          <a:prstGeom prst="rect">
            <a:avLst/>
          </a:prstGeom>
        </p:spPr>
        <p:txBody>
          <a:bodyPr/>
          <a:lstStyle/>
          <a:p>
            <a:pPr marL="228600" indent="-228600">
              <a:buAutoNum type="arabicPeriod"/>
              <a:defRPr>
                <a:solidFill>
                  <a:srgbClr val="FF0000"/>
                </a:solidFill>
              </a:defRPr>
            </a:pPr>
            <a:r>
              <a:t>AI Enablement and Adoption </a:t>
            </a:r>
          </a:p>
          <a:p>
            <a:pPr marL="228600" indent="-228600">
              <a:buAutoNum type="arabicPeriod"/>
              <a:defRPr>
                <a:solidFill>
                  <a:srgbClr val="FF0000"/>
                </a:solidFill>
              </a:defRPr>
            </a:pPr>
            <a:r>
              <a:t>Endpoint + Cloud Protection (MDR) - Device and Cloud Security Monitoring</a:t>
            </a:r>
          </a:p>
          <a:p>
            <a:pPr marL="228600" indent="-228600">
              <a:buAutoNum type="arabicPeriod"/>
              <a:defRPr>
                <a:solidFill>
                  <a:srgbClr val="FF0000"/>
                </a:solidFill>
              </a:defRPr>
            </a:pPr>
            <a:r>
              <a:t>Mobile Device Management (MDM) – Secure Access on Mobile Devices</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Title 1"/>
          <p:cNvSpPr txBox="1">
            <a:spLocks noGrp="1"/>
          </p:cNvSpPr>
          <p:nvPr>
            <p:ph type="title"/>
          </p:nvPr>
        </p:nvSpPr>
        <p:spPr>
          <a:xfrm>
            <a:off x="5112208" y="206375"/>
            <a:ext cx="4031793" cy="857250"/>
          </a:xfrm>
          <a:prstGeom prst="rect">
            <a:avLst/>
          </a:prstGeom>
        </p:spPr>
        <p:txBody>
          <a:bodyPr/>
          <a:lstStyle/>
          <a:p>
            <a:r>
              <a:t>AI Essentials </a:t>
            </a:r>
          </a:p>
        </p:txBody>
      </p:sp>
      <p:sp>
        <p:nvSpPr>
          <p:cNvPr id="211" name="Content Placeholder 2"/>
          <p:cNvSpPr txBox="1">
            <a:spLocks noGrp="1"/>
          </p:cNvSpPr>
          <p:nvPr>
            <p:ph type="body" sz="half" idx="1"/>
          </p:nvPr>
        </p:nvSpPr>
        <p:spPr>
          <a:xfrm>
            <a:off x="5331283" y="1360365"/>
            <a:ext cx="3593643" cy="3346453"/>
          </a:xfrm>
          <a:prstGeom prst="rect">
            <a:avLst/>
          </a:prstGeom>
        </p:spPr>
        <p:txBody>
          <a:bodyPr/>
          <a:lstStyle/>
          <a:p>
            <a:pPr>
              <a:buFont typeface="Wingdings" pitchFamily="2" charset="2"/>
              <a:buChar char="§"/>
            </a:pPr>
            <a:r>
              <a:t>Business AI Discovery</a:t>
            </a:r>
          </a:p>
          <a:p>
            <a:pPr>
              <a:buFont typeface="Wingdings" pitchFamily="2" charset="2"/>
              <a:buChar char="§"/>
            </a:pPr>
            <a:r>
              <a:t>Readiness Scan</a:t>
            </a:r>
          </a:p>
          <a:p>
            <a:pPr>
              <a:buFont typeface="Wingdings" pitchFamily="2" charset="2"/>
              <a:buChar char="§"/>
            </a:pPr>
            <a:r>
              <a:t>Data Governance</a:t>
            </a:r>
          </a:p>
          <a:p>
            <a:pPr>
              <a:buFont typeface="Wingdings" pitchFamily="2" charset="2"/>
              <a:buChar char="§"/>
            </a:pPr>
            <a:r>
              <a:t>AI Acceptable Use Policy</a:t>
            </a:r>
          </a:p>
          <a:p>
            <a:pPr>
              <a:buFont typeface="Wingdings" pitchFamily="2" charset="2"/>
              <a:buChar char="§"/>
            </a:pPr>
            <a:r>
              <a:t>Licensed AI Productivity</a:t>
            </a:r>
          </a:p>
          <a:p>
            <a:pPr>
              <a:buFont typeface="Wingdings" pitchFamily="2" charset="2"/>
              <a:buChar char="§"/>
            </a:pPr>
            <a:r>
              <a:t>Sensitive Data Monitoring</a:t>
            </a:r>
          </a:p>
          <a:p>
            <a:pPr>
              <a:buFont typeface="Wingdings" pitchFamily="2" charset="2"/>
              <a:buChar char="§"/>
            </a:pPr>
            <a:r>
              <a:t>AI End-User Training</a:t>
            </a:r>
          </a:p>
        </p:txBody>
      </p:sp>
      <p:pic>
        <p:nvPicPr>
          <p:cNvPr id="212" name="AdobeStock_898886786.jpeg" descr="AdobeStock_898886786.jpeg"/>
          <p:cNvPicPr>
            <a:picLocks noChangeAspect="1"/>
          </p:cNvPicPr>
          <p:nvPr/>
        </p:nvPicPr>
        <p:blipFill>
          <a:blip r:embed="rId2"/>
          <a:srcRect l="18630" t="7413" r="15108"/>
          <a:stretch>
            <a:fillRect/>
          </a:stretch>
        </p:blipFill>
        <p:spPr>
          <a:xfrm>
            <a:off x="-1" y="-2"/>
            <a:ext cx="5112204" cy="4762156"/>
          </a:xfrm>
          <a:prstGeom prst="rect">
            <a:avLst/>
          </a:prstGeom>
          <a:ln w="12700">
            <a:miter lim="400000"/>
          </a:ln>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Title 1"/>
          <p:cNvSpPr txBox="1">
            <a:spLocks noGrp="1"/>
          </p:cNvSpPr>
          <p:nvPr>
            <p:ph type="title"/>
          </p:nvPr>
        </p:nvSpPr>
        <p:spPr>
          <a:xfrm>
            <a:off x="457199" y="1671439"/>
            <a:ext cx="8229601" cy="1292622"/>
          </a:xfrm>
          <a:prstGeom prst="rect">
            <a:avLst/>
          </a:prstGeom>
        </p:spPr>
        <p:txBody>
          <a:bodyPr/>
          <a:lstStyle>
            <a:lvl1pPr>
              <a:lnSpc>
                <a:spcPct val="90000"/>
              </a:lnSpc>
              <a:spcBef>
                <a:spcPts val="1100"/>
              </a:spcBef>
              <a:defRPr sz="4800"/>
            </a:lvl1pPr>
          </a:lstStyle>
          <a:p>
            <a:r>
              <a:t>Implementation Timeline</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Title 2"/>
          <p:cNvSpPr txBox="1">
            <a:spLocks noGrp="1"/>
          </p:cNvSpPr>
          <p:nvPr>
            <p:ph type="title"/>
          </p:nvPr>
        </p:nvSpPr>
        <p:spPr>
          <a:xfrm>
            <a:off x="457386" y="205978"/>
            <a:ext cx="8229601" cy="857251"/>
          </a:xfrm>
          <a:prstGeom prst="rect">
            <a:avLst/>
          </a:prstGeom>
        </p:spPr>
        <p:txBody>
          <a:bodyPr/>
          <a:lstStyle/>
          <a:p>
            <a:r>
              <a:t>Budget and Timeline</a:t>
            </a:r>
          </a:p>
        </p:txBody>
      </p:sp>
      <p:graphicFrame>
        <p:nvGraphicFramePr>
          <p:cNvPr id="217" name="Table 1"/>
          <p:cNvGraphicFramePr/>
          <p:nvPr/>
        </p:nvGraphicFramePr>
        <p:xfrm>
          <a:off x="457387" y="1127483"/>
          <a:ext cx="8229599" cy="2980278"/>
        </p:xfrm>
        <a:graphic>
          <a:graphicData uri="http://schemas.openxmlformats.org/drawingml/2006/table">
            <a:tbl>
              <a:tblPr firstRow="1" bandRow="1">
                <a:tableStyleId>{4C3C2611-4C71-4FC5-86AE-919BDF0F9419}</a:tableStyleId>
              </a:tblPr>
              <a:tblGrid>
                <a:gridCol w="5148390">
                  <a:extLst>
                    <a:ext uri="{9D8B030D-6E8A-4147-A177-3AD203B41FA5}">
                      <a16:colId xmlns:a16="http://schemas.microsoft.com/office/drawing/2014/main" val="20000"/>
                    </a:ext>
                  </a:extLst>
                </a:gridCol>
                <a:gridCol w="1527415">
                  <a:extLst>
                    <a:ext uri="{9D8B030D-6E8A-4147-A177-3AD203B41FA5}">
                      <a16:colId xmlns:a16="http://schemas.microsoft.com/office/drawing/2014/main" val="20001"/>
                    </a:ext>
                  </a:extLst>
                </a:gridCol>
                <a:gridCol w="1553794">
                  <a:extLst>
                    <a:ext uri="{9D8B030D-6E8A-4147-A177-3AD203B41FA5}">
                      <a16:colId xmlns:a16="http://schemas.microsoft.com/office/drawing/2014/main" val="20002"/>
                    </a:ext>
                  </a:extLst>
                </a:gridCol>
              </a:tblGrid>
              <a:tr h="344466">
                <a:tc>
                  <a:txBody>
                    <a:bodyPr/>
                    <a:lstStyle/>
                    <a:p>
                      <a:pPr algn="l" defTabSz="685800">
                        <a:defRPr sz="1800" b="0">
                          <a:solidFill>
                            <a:srgbClr val="000000"/>
                          </a:solidFill>
                        </a:defRPr>
                      </a:pPr>
                      <a:r>
                        <a:rPr sz="1300" b="1">
                          <a:solidFill>
                            <a:srgbClr val="FFFFFF"/>
                          </a:solidFill>
                          <a:latin typeface="Arial"/>
                          <a:ea typeface="Arial"/>
                          <a:cs typeface="Arial"/>
                          <a:sym typeface="Arial"/>
                        </a:rPr>
                        <a:t>Recommendation </a:t>
                      </a:r>
                    </a:p>
                  </a:txBody>
                  <a:tcPr marL="45720" marR="45720" horzOverflow="overflow">
                    <a:solidFill>
                      <a:srgbClr val="8BAE6C"/>
                    </a:solidFill>
                  </a:tcPr>
                </a:tc>
                <a:tc>
                  <a:txBody>
                    <a:bodyPr/>
                    <a:lstStyle/>
                    <a:p>
                      <a:pPr algn="l" defTabSz="685800">
                        <a:defRPr sz="1800" b="0">
                          <a:solidFill>
                            <a:srgbClr val="000000"/>
                          </a:solidFill>
                        </a:defRPr>
                      </a:pPr>
                      <a:r>
                        <a:rPr sz="1300" b="1">
                          <a:solidFill>
                            <a:srgbClr val="FFFFFF"/>
                          </a:solidFill>
                          <a:latin typeface="Arial"/>
                          <a:ea typeface="Arial"/>
                          <a:cs typeface="Arial"/>
                          <a:sym typeface="Arial"/>
                        </a:rPr>
                        <a:t>Budget / Quote </a:t>
                      </a:r>
                    </a:p>
                  </a:txBody>
                  <a:tcPr marL="45720" marR="45720" horzOverflow="overflow">
                    <a:solidFill>
                      <a:srgbClr val="8BAE6C"/>
                    </a:solidFill>
                  </a:tcPr>
                </a:tc>
                <a:tc>
                  <a:txBody>
                    <a:bodyPr/>
                    <a:lstStyle/>
                    <a:p>
                      <a:pPr algn="l" defTabSz="685800">
                        <a:defRPr sz="1800" b="0">
                          <a:solidFill>
                            <a:srgbClr val="000000"/>
                          </a:solidFill>
                        </a:defRPr>
                      </a:pPr>
                      <a:r>
                        <a:rPr sz="1300" b="1">
                          <a:solidFill>
                            <a:srgbClr val="FFFFFF"/>
                          </a:solidFill>
                          <a:latin typeface="Arial"/>
                          <a:ea typeface="Arial"/>
                          <a:cs typeface="Arial"/>
                          <a:sym typeface="Arial"/>
                        </a:rPr>
                        <a:t>Timeline</a:t>
                      </a:r>
                    </a:p>
                  </a:txBody>
                  <a:tcPr marL="45720" marR="45720" horzOverflow="overflow">
                    <a:solidFill>
                      <a:srgbClr val="8BAE6C"/>
                    </a:solidFill>
                  </a:tcPr>
                </a:tc>
                <a:extLst>
                  <a:ext uri="{0D108BD9-81ED-4DB2-BD59-A6C34878D82A}">
                    <a16:rowId xmlns:a16="http://schemas.microsoft.com/office/drawing/2014/main" val="10000"/>
                  </a:ext>
                </a:extLst>
              </a:tr>
              <a:tr h="597813">
                <a:tc>
                  <a:txBody>
                    <a:bodyPr/>
                    <a:lstStyle/>
                    <a:p>
                      <a:pPr algn="l" defTabSz="685800">
                        <a:defRPr sz="1800"/>
                      </a:pPr>
                      <a:r>
                        <a:rPr sz="1200">
                          <a:solidFill>
                            <a:srgbClr val="FF0000"/>
                          </a:solidFill>
                          <a:latin typeface="Arial"/>
                          <a:ea typeface="Arial"/>
                          <a:cs typeface="Arial"/>
                          <a:sym typeface="Arial"/>
                        </a:rPr>
                        <a:t>Firewall and network security configurations </a:t>
                      </a:r>
                    </a:p>
                  </a:txBody>
                  <a:tcPr marL="45720" marR="45720" horzOverflow="overflow">
                    <a:solidFill>
                      <a:srgbClr val="8BAE6C">
                        <a:alpha val="30324"/>
                      </a:srgbClr>
                    </a:solidFill>
                  </a:tcPr>
                </a:tc>
                <a:tc>
                  <a:txBody>
                    <a:bodyPr/>
                    <a:lstStyle/>
                    <a:p>
                      <a:pPr algn="l" defTabSz="685800">
                        <a:defRPr sz="1800"/>
                      </a:pPr>
                      <a:r>
                        <a:rPr sz="1200">
                          <a:solidFill>
                            <a:srgbClr val="FF0000"/>
                          </a:solidFill>
                          <a:latin typeface="Arial"/>
                          <a:ea typeface="Arial"/>
                          <a:cs typeface="Arial"/>
                          <a:sym typeface="Arial"/>
                        </a:rPr>
                        <a:t>$</a:t>
                      </a:r>
                    </a:p>
                  </a:txBody>
                  <a:tcPr marL="45720" marR="45720" horzOverflow="overflow">
                    <a:solidFill>
                      <a:srgbClr val="8BAE6C">
                        <a:alpha val="30324"/>
                      </a:srgbClr>
                    </a:solidFill>
                  </a:tcPr>
                </a:tc>
                <a:tc>
                  <a:txBody>
                    <a:bodyPr/>
                    <a:lstStyle/>
                    <a:p>
                      <a:pPr algn="l" defTabSz="685800">
                        <a:defRPr sz="1800"/>
                      </a:pPr>
                      <a:r>
                        <a:rPr sz="1200">
                          <a:solidFill>
                            <a:srgbClr val="FF0000"/>
                          </a:solidFill>
                          <a:latin typeface="Arial"/>
                          <a:ea typeface="Arial"/>
                          <a:cs typeface="Arial"/>
                          <a:sym typeface="Arial"/>
                        </a:rPr>
                        <a:t>Q1</a:t>
                      </a:r>
                    </a:p>
                  </a:txBody>
                  <a:tcPr marL="45720" marR="45720" horzOverflow="overflow">
                    <a:solidFill>
                      <a:srgbClr val="8BAE6C">
                        <a:alpha val="30324"/>
                      </a:srgbClr>
                    </a:solidFill>
                  </a:tcPr>
                </a:tc>
                <a:extLst>
                  <a:ext uri="{0D108BD9-81ED-4DB2-BD59-A6C34878D82A}">
                    <a16:rowId xmlns:a16="http://schemas.microsoft.com/office/drawing/2014/main" val="10001"/>
                  </a:ext>
                </a:extLst>
              </a:tr>
              <a:tr h="842373">
                <a:tc>
                  <a:txBody>
                    <a:bodyPr/>
                    <a:lstStyle/>
                    <a:p>
                      <a:pPr algn="l" defTabSz="685800">
                        <a:defRPr sz="1200">
                          <a:solidFill>
                            <a:srgbClr val="FF0000"/>
                          </a:solidFill>
                          <a:latin typeface="Arial"/>
                          <a:ea typeface="Arial"/>
                          <a:cs typeface="Arial"/>
                          <a:sym typeface="Arial"/>
                        </a:defRPr>
                      </a:pPr>
                      <a:r>
                        <a:t>New device installation, setup, and configuration </a:t>
                      </a:r>
                    </a:p>
                  </a:txBody>
                  <a:tcPr marL="45720" marR="45720" horzOverflow="overflow">
                    <a:solidFill>
                      <a:srgbClr val="8BAE6C">
                        <a:alpha val="14887"/>
                      </a:srgbClr>
                    </a:solidFill>
                  </a:tcPr>
                </a:tc>
                <a:tc>
                  <a:txBody>
                    <a:bodyPr/>
                    <a:lstStyle/>
                    <a:p>
                      <a:pPr algn="l" defTabSz="685800">
                        <a:defRPr sz="1800"/>
                      </a:pPr>
                      <a:r>
                        <a:rPr sz="1200">
                          <a:solidFill>
                            <a:srgbClr val="FF0000"/>
                          </a:solidFill>
                          <a:latin typeface="Arial"/>
                          <a:ea typeface="Arial"/>
                          <a:cs typeface="Arial"/>
                          <a:sym typeface="Arial"/>
                        </a:rPr>
                        <a:t>$</a:t>
                      </a:r>
                    </a:p>
                  </a:txBody>
                  <a:tcPr marL="45720" marR="45720" horzOverflow="overflow">
                    <a:solidFill>
                      <a:srgbClr val="8BAE6C">
                        <a:alpha val="14887"/>
                      </a:srgbClr>
                    </a:solidFill>
                  </a:tcPr>
                </a:tc>
                <a:tc>
                  <a:txBody>
                    <a:bodyPr/>
                    <a:lstStyle/>
                    <a:p>
                      <a:pPr algn="l" defTabSz="685800">
                        <a:defRPr sz="1800"/>
                      </a:pPr>
                      <a:r>
                        <a:rPr sz="1200">
                          <a:solidFill>
                            <a:srgbClr val="FF0000"/>
                          </a:solidFill>
                          <a:latin typeface="Arial"/>
                          <a:ea typeface="Arial"/>
                          <a:cs typeface="Arial"/>
                          <a:sym typeface="Arial"/>
                        </a:rPr>
                        <a:t>Quote acceptance / as needed </a:t>
                      </a:r>
                    </a:p>
                  </a:txBody>
                  <a:tcPr marL="45720" marR="45720" horzOverflow="overflow">
                    <a:solidFill>
                      <a:srgbClr val="8BAE6C">
                        <a:alpha val="14887"/>
                      </a:srgbClr>
                    </a:solidFill>
                  </a:tcPr>
                </a:tc>
                <a:extLst>
                  <a:ext uri="{0D108BD9-81ED-4DB2-BD59-A6C34878D82A}">
                    <a16:rowId xmlns:a16="http://schemas.microsoft.com/office/drawing/2014/main" val="10002"/>
                  </a:ext>
                </a:extLst>
              </a:tr>
              <a:tr h="597813">
                <a:tc>
                  <a:txBody>
                    <a:bodyPr/>
                    <a:lstStyle/>
                    <a:p>
                      <a:pPr algn="l" defTabSz="685800">
                        <a:defRPr sz="1200">
                          <a:solidFill>
                            <a:srgbClr val="FF0000"/>
                          </a:solidFill>
                          <a:latin typeface="Arial"/>
                          <a:ea typeface="Arial"/>
                          <a:cs typeface="Arial"/>
                          <a:sym typeface="Arial"/>
                        </a:defRPr>
                      </a:pPr>
                      <a:r>
                        <a:t>Telephony (VOIP) configurations </a:t>
                      </a:r>
                    </a:p>
                  </a:txBody>
                  <a:tcPr marL="45720" marR="45720" horzOverflow="overflow">
                    <a:solidFill>
                      <a:srgbClr val="8BAE6C">
                        <a:alpha val="29777"/>
                      </a:srgbClr>
                    </a:solidFill>
                  </a:tcPr>
                </a:tc>
                <a:tc>
                  <a:txBody>
                    <a:bodyPr/>
                    <a:lstStyle/>
                    <a:p>
                      <a:pPr algn="l" defTabSz="685800">
                        <a:defRPr sz="1800"/>
                      </a:pPr>
                      <a:r>
                        <a:rPr sz="1200">
                          <a:solidFill>
                            <a:srgbClr val="FF0000"/>
                          </a:solidFill>
                          <a:latin typeface="Arial"/>
                          <a:ea typeface="Arial"/>
                          <a:cs typeface="Arial"/>
                          <a:sym typeface="Arial"/>
                        </a:rPr>
                        <a:t>$</a:t>
                      </a:r>
                    </a:p>
                  </a:txBody>
                  <a:tcPr marL="45720" marR="45720" horzOverflow="overflow">
                    <a:solidFill>
                      <a:srgbClr val="8BAE6C">
                        <a:alpha val="29777"/>
                      </a:srgbClr>
                    </a:solidFill>
                  </a:tcPr>
                </a:tc>
                <a:tc>
                  <a:txBody>
                    <a:bodyPr/>
                    <a:lstStyle/>
                    <a:p>
                      <a:pPr algn="l" defTabSz="685800">
                        <a:defRPr sz="1800"/>
                      </a:pPr>
                      <a:r>
                        <a:rPr sz="1200">
                          <a:solidFill>
                            <a:srgbClr val="FF0000"/>
                          </a:solidFill>
                          <a:latin typeface="Arial"/>
                          <a:ea typeface="Arial"/>
                          <a:cs typeface="Arial"/>
                          <a:sym typeface="Arial"/>
                        </a:rPr>
                        <a:t>Q2 </a:t>
                      </a:r>
                    </a:p>
                  </a:txBody>
                  <a:tcPr marL="45720" marR="45720" horzOverflow="overflow">
                    <a:solidFill>
                      <a:srgbClr val="8BAE6C">
                        <a:alpha val="29777"/>
                      </a:srgbClr>
                    </a:solidFill>
                  </a:tcPr>
                </a:tc>
                <a:extLst>
                  <a:ext uri="{0D108BD9-81ED-4DB2-BD59-A6C34878D82A}">
                    <a16:rowId xmlns:a16="http://schemas.microsoft.com/office/drawing/2014/main" val="10003"/>
                  </a:ext>
                </a:extLst>
              </a:tr>
              <a:tr h="597813">
                <a:tc>
                  <a:txBody>
                    <a:bodyPr/>
                    <a:lstStyle/>
                    <a:p>
                      <a:pPr algn="l" defTabSz="685800">
                        <a:defRPr sz="1200">
                          <a:solidFill>
                            <a:srgbClr val="FF0000"/>
                          </a:solidFill>
                          <a:latin typeface="Arial"/>
                          <a:ea typeface="Arial"/>
                          <a:cs typeface="Arial"/>
                          <a:sym typeface="Arial"/>
                        </a:defRPr>
                      </a:pPr>
                      <a:r>
                        <a:t>Cloud migration </a:t>
                      </a:r>
                    </a:p>
                  </a:txBody>
                  <a:tcPr marL="45720" marR="45720" horzOverflow="overflow">
                    <a:solidFill>
                      <a:srgbClr val="8BAE6C">
                        <a:alpha val="14887"/>
                      </a:srgbClr>
                    </a:solidFill>
                  </a:tcPr>
                </a:tc>
                <a:tc>
                  <a:txBody>
                    <a:bodyPr/>
                    <a:lstStyle/>
                    <a:p>
                      <a:pPr algn="l" defTabSz="685800">
                        <a:defRPr sz="1800"/>
                      </a:pPr>
                      <a:r>
                        <a:rPr sz="1200">
                          <a:solidFill>
                            <a:srgbClr val="FF0000"/>
                          </a:solidFill>
                          <a:latin typeface="Arial"/>
                          <a:ea typeface="Arial"/>
                          <a:cs typeface="Arial"/>
                          <a:sym typeface="Arial"/>
                        </a:rPr>
                        <a:t>$</a:t>
                      </a:r>
                    </a:p>
                  </a:txBody>
                  <a:tcPr marL="45720" marR="45720" horzOverflow="overflow">
                    <a:solidFill>
                      <a:srgbClr val="8BAE6C">
                        <a:alpha val="14887"/>
                      </a:srgbClr>
                    </a:solidFill>
                  </a:tcPr>
                </a:tc>
                <a:tc>
                  <a:txBody>
                    <a:bodyPr/>
                    <a:lstStyle/>
                    <a:p>
                      <a:pPr algn="l" defTabSz="685800">
                        <a:defRPr sz="1800"/>
                      </a:pPr>
                      <a:r>
                        <a:rPr sz="1200">
                          <a:solidFill>
                            <a:srgbClr val="FF0000"/>
                          </a:solidFill>
                          <a:latin typeface="Arial"/>
                          <a:ea typeface="Arial"/>
                          <a:cs typeface="Arial"/>
                          <a:sym typeface="Arial"/>
                        </a:rPr>
                        <a:t>Q3</a:t>
                      </a:r>
                    </a:p>
                  </a:txBody>
                  <a:tcPr marL="45720" marR="45720" horzOverflow="overflow">
                    <a:solidFill>
                      <a:srgbClr val="8BAE6C">
                        <a:alpha val="14887"/>
                      </a:srgbClr>
                    </a:solidFill>
                  </a:tcPr>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Subtitle 2"/>
          <p:cNvSpPr txBox="1">
            <a:spLocks noGrp="1"/>
          </p:cNvSpPr>
          <p:nvPr>
            <p:ph type="subTitle" sz="quarter" idx="1"/>
          </p:nvPr>
        </p:nvSpPr>
        <p:spPr>
          <a:xfrm>
            <a:off x="1371599" y="1394883"/>
            <a:ext cx="6400801" cy="1107491"/>
          </a:xfrm>
          <a:prstGeom prst="rect">
            <a:avLst/>
          </a:prstGeom>
        </p:spPr>
        <p:txBody>
          <a:bodyPr>
            <a:noAutofit/>
          </a:bodyPr>
          <a:lstStyle>
            <a:lvl1pPr>
              <a:defRPr sz="3600" spc="0"/>
            </a:lvl1pPr>
          </a:lstStyle>
          <a:p>
            <a:r>
              <a:t>Thank you for our continued partnership!</a:t>
            </a:r>
          </a:p>
        </p:txBody>
      </p:sp>
      <p:sp>
        <p:nvSpPr>
          <p:cNvPr id="220" name="Subtitle 2"/>
          <p:cNvSpPr txBox="1"/>
          <p:nvPr/>
        </p:nvSpPr>
        <p:spPr>
          <a:xfrm>
            <a:off x="1468768" y="2963025"/>
            <a:ext cx="6206464" cy="5603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lgn="ctr" defTabSz="685800">
              <a:lnSpc>
                <a:spcPct val="120000"/>
              </a:lnSpc>
              <a:defRPr sz="1400" i="1">
                <a:latin typeface="Arial"/>
                <a:ea typeface="Arial"/>
                <a:cs typeface="Arial"/>
                <a:sym typeface="Arial"/>
              </a:defRPr>
            </a:lvl1pPr>
          </a:lstStyle>
          <a:p>
            <a:r>
              <a:t>We build our business on referrals. If you know of someone who has technology concerns, please let them know about us. We’d like to help.</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43ff3c80-3d38-472f-8a89-05933bb58c0e}" enabled="0" method="" siteId="{43ff3c80-3d38-472f-8a89-05933bb58c0e}" removed="1"/>
</clbl:labelList>
</file>

<file path=docProps/app.xml><?xml version="1.0" encoding="utf-8"?>
<Properties xmlns="http://schemas.openxmlformats.org/officeDocument/2006/extended-properties" xmlns:vt="http://schemas.openxmlformats.org/officeDocument/2006/docPropsVTypes">
  <TotalTime>0</TotalTime>
  <Words>1684</Words>
  <Application>Microsoft Office PowerPoint</Application>
  <PresentationFormat>On-screen Show (16:9)</PresentationFormat>
  <Paragraphs>189</Paragraphs>
  <Slides>23</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Arial</vt:lpstr>
      <vt:lpstr>Calibri</vt:lpstr>
      <vt:lpstr>Wingdings</vt:lpstr>
      <vt:lpstr>Office Theme</vt:lpstr>
      <vt:lpstr>PowerPoint Presentation</vt:lpstr>
      <vt:lpstr>Agenda </vt:lpstr>
      <vt:lpstr>Industry Trends</vt:lpstr>
      <vt:lpstr>Service Review</vt:lpstr>
      <vt:lpstr>Current Management and Maintenance</vt:lpstr>
      <vt:lpstr>PowerPoint Presentation</vt:lpstr>
      <vt:lpstr>Management Summary Report Key Takeaways </vt:lpstr>
      <vt:lpstr>Recent Accomplishments</vt:lpstr>
      <vt:lpstr>CX Metrics</vt:lpstr>
      <vt:lpstr>Open Technical Items  </vt:lpstr>
      <vt:lpstr>Current Project Review</vt:lpstr>
      <vt:lpstr>Devices Under Management  Recommended for Upgrade </vt:lpstr>
      <vt:lpstr>Devices Under Management  Recommended for Upgrade </vt:lpstr>
      <vt:lpstr>Cybersecurity</vt:lpstr>
      <vt:lpstr>Backup / Business Continuity</vt:lpstr>
      <vt:lpstr>Strategic Initiatives</vt:lpstr>
      <vt:lpstr>Scheduled Projects</vt:lpstr>
      <vt:lpstr>Recommended Services</vt:lpstr>
      <vt:lpstr>Near-Term Priorities</vt:lpstr>
      <vt:lpstr>AI Essentials </vt:lpstr>
      <vt:lpstr>Implementation Timeline</vt:lpstr>
      <vt:lpstr>Budget and Timeline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Benjamin Purcell</dc:creator>
  <cp:lastModifiedBy>Pratik Shende</cp:lastModifiedBy>
  <cp:revision>13</cp:revision>
  <dcterms:modified xsi:type="dcterms:W3CDTF">2026-09-21T07:42:28Z</dcterms:modified>
</cp:coreProperties>
</file>